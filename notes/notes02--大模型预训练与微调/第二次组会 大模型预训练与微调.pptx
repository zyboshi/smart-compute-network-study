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308" r:id="rId12"/>
    <p:sldId id="265" r:id="rId13"/>
    <p:sldId id="26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9" r:id="rId57"/>
    <p:sldId id="312" r:id="rId58"/>
    <p:sldId id="311" r:id="rId5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spPr>
            <a:ln w="28575" cap="rnd">
              <a:solidFill>
                <a:srgbClr val="1668B8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xVal>
          <c:yVal>
            <c:numRef>
              <c:f>'Chart Data'!$B$2:$B$22</c:f>
              <c:numCache>
                <c:formatCode>General</c:formatCode>
                <c:ptCount val="2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0.992404</c:v>
                </c:pt>
                <c:pt idx="4">
                  <c:v>0.969846</c:v>
                </c:pt>
                <c:pt idx="5">
                  <c:v>0.933013</c:v>
                </c:pt>
                <c:pt idx="6">
                  <c:v>0.883022</c:v>
                </c:pt>
                <c:pt idx="7">
                  <c:v>0.821394</c:v>
                </c:pt>
                <c:pt idx="8">
                  <c:v>0.75</c:v>
                </c:pt>
                <c:pt idx="9">
                  <c:v>0.67101</c:v>
                </c:pt>
                <c:pt idx="10">
                  <c:v>0.586824</c:v>
                </c:pt>
                <c:pt idx="11">
                  <c:v>0.5</c:v>
                </c:pt>
                <c:pt idx="12">
                  <c:v>0.413176</c:v>
                </c:pt>
                <c:pt idx="13">
                  <c:v>0.32899</c:v>
                </c:pt>
                <c:pt idx="14">
                  <c:v>0.25</c:v>
                </c:pt>
                <c:pt idx="15">
                  <c:v>0.178606</c:v>
                </c:pt>
                <c:pt idx="16">
                  <c:v>0.116978</c:v>
                </c:pt>
                <c:pt idx="17">
                  <c:v>0.066987</c:v>
                </c:pt>
                <c:pt idx="18">
                  <c:v>0.030154</c:v>
                </c:pt>
                <c:pt idx="19">
                  <c:v>0.007596</c:v>
                </c:pt>
                <c:pt idx="20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Training progress</a:t>
                </a:r>
                <a:endParaRPr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DD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477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72768"/>
        <c:crosses val="autoZero"/>
        <c:crossBetween val="midCat"/>
        <c:majorUnit val="0.2"/>
      </c:val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CDDD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Relative learning rate</a:t>
                </a:r>
                <a:endParaRPr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4778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50112"/>
        <c:crosses val="autoZero"/>
        <c:crossBetween val="midCat"/>
        <c:majorUnit val="0.25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bd230648-430e-4dc5-ab51-3acc01cb2ad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 页：大模型预训练 / 微调</a:t>
            </a:r>
          </a:p>
          <a:p/>
          <a:p/>
          <a:p>
            <a:r>
              <a:t>讲解</a:t>
            </a:r>
          </a:p>
          <a:p>
            <a:r>
              <a:t>以通用因果语言模型为对象。报告依次解释训练数据准备、模型搭建、预训练、可选继续预训练、监督微调、可选偏好对齐，以及最终评估和保存。各阶段先给完整图，再按工作顺序展开。概念示例不代表真实训练结果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https://sebastianraschka.com/images/LLMs-from-scratch-images/ch04_compressed/15.webp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页：目录：沿着模型训练的顺序展开</a:t>
            </a:r>
          </a:p>
          <a:p/>
          <a:p/>
          <a:p>
            <a:r>
              <a:t>讲解</a:t>
            </a:r>
          </a:p>
          <a:p>
            <a:r>
              <a:t>阅读时先找当前输入和阶段产物。预训练从随机参数开始，后续阶段从已有权重开始。CPT 与偏好对齐是可选步骤，PPO、DPO 和 GRPO 属于不同路线。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页：2013—2016：词向量与序列建模</a:t>
            </a:r>
          </a:p>
          <a:p/>
          <a:p/>
          <a:p>
            <a:r>
              <a:t>讲解</a:t>
            </a:r>
          </a:p>
          <a:p>
            <a:r>
              <a:t>word2vec 的贡献是用预测任务学习词向量，而不是直接训练今天的对话大模型。Seq2Seq 通过编码器压缩输入、解码器生成输出，注意力机制让解码器访问不同输入位置。图中的向量语义关系属于说明性示意，并非某个训练模型的实测降维结果。注意力论文首次预印本发表于 2014 年，常以 ICLR 2015 论文引用。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https://arxiv.org/abs/1301.3781</a:t>
            </a:r>
          </a:p>
          <a:p>
            <a:r>
              <a:t>[2] https://arxiv.org/abs/1409.3215</a:t>
            </a:r>
          </a:p>
          <a:p>
            <a:r>
              <a:t>[3] https://arxiv.org/abs/1409.0473</a:t>
            </a:r>
          </a:p>
          <a:p>
            <a:r>
              <a:t>[4]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https://sebastianraschka.com/images/LLMs-from-scratch-images/ch02_compressed/03.webp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页：2017—2018：Transformer 与预训练迁移</a:t>
            </a:r>
          </a:p>
          <a:p/>
          <a:p/>
          <a:p>
            <a:r>
              <a:t>讲解</a:t>
            </a:r>
          </a:p>
          <a:p>
            <a:r>
              <a:t>原始 Transformer 同时包含编码器与解码器，不能把该图直接等同于现代 GPT。GPT 类模型一般只保留因果解码器主干。BERT 的掩码目标允许同时使用目标左右两侧的上下文，而 GPT 预测下一个 token 只能访问前缀。这里的同时处理多个位置是序列内部计算方式，与多设备训练无关。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https://arxiv.org/abs/1706.03762</a:t>
            </a:r>
          </a:p>
          <a:p>
            <a:r>
              <a:t>[2] https://cdn.openai.com/research-covers/language-unsupervised/language_understanding_paper.pdf</a:t>
            </a:r>
          </a:p>
          <a:p>
            <a:r>
              <a:t>[3] https://arxiv.org/abs/1810.04805</a:t>
            </a:r>
          </a:p>
          <a:p>
            <a:r>
              <a:t>[4] https://jalammar.github.io/illustrated-transformer/</a:t>
            </a:r>
          </a:p>
          <a:p/>
          <a:p>
            <a:r>
              <a:t>网页插图来源</a:t>
            </a:r>
          </a:p>
          <a:p>
            <a:r>
              <a:t>https://jalammar.github.io/images/t/The_transformer_encoder_decoder_stack.png</a:t>
            </a:r>
          </a:p>
          <a:p>
            <a:r>
              <a:t>等比例嵌入来源图，源图内文字保留。</a:t>
            </a:r>
          </a:p>
          <a:p>
            <a:r>
              <a:t>图像作者：Jay Alammar，The Illustrated Transformer。许可 CC BY-NC-SA 4.0，https://creativecommons.org/licenses/by-nc-sa/4.0/。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页：2019—2020：规模扩大与上下文学习</a:t>
            </a:r>
          </a:p>
          <a:p/>
          <a:p/>
          <a:p>
            <a:r>
              <a:t>讲解</a:t>
            </a:r>
          </a:p>
          <a:p>
            <a:r>
              <a:t>B 表示十亿参数。GPT-2 论文给出约 1.5B 的最大模型，GPT-3 最大版本为 175B。上下文学习和微调是不同操作，前者把示例放入上下文，后者通过优化器更改参数。零样本和少样本表现取决于任务与提示，不能解释为模型已经具备稳定可靠的通用推理能力。该页图片用于说明自回归使用方式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https://cdn.openai.com/better-language-models/language_models_are_unsupervised_multitask_learners.pdf</a:t>
            </a:r>
          </a:p>
          <a:p>
            <a:r>
              <a:t>[2] https://arxiv.org/abs/2005.14165</a:t>
            </a:r>
          </a:p>
          <a:p>
            <a:r>
              <a:t>[3] https://arxiv.org/abs/2001.08361</a:t>
            </a:r>
          </a:p>
          <a:p>
            <a:r>
              <a:t>[4]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https://sebastianraschka.com/images/LLMs-from-scratch-images/ch04_compressed/16.webp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页：2021—2022：高效适配与人类偏好</a:t>
            </a:r>
          </a:p>
          <a:p/>
          <a:p/>
          <a:p>
            <a:r>
              <a:t>讲解</a:t>
            </a:r>
          </a:p>
          <a:p>
            <a:r>
              <a:t>LoRA 预印本发表于 2021 年，会议版本发表于 2022 年。Chinchilla 研究固定计算预算下的模型和数据配比，结论不等价于所有部署场景都应遵循某个固定 token/parameter 比。InstructGPT 的经典流程包含 SFT、奖励模型和 PPO。图中虚线 KL 项约束策略偏离参考模型，防止奖励优化过度改变语言行为。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https://arxiv.org/abs/2106.09685</a:t>
            </a:r>
          </a:p>
          <a:p>
            <a:r>
              <a:t>[2] https://arxiv.org/abs/2203.15556</a:t>
            </a:r>
          </a:p>
          <a:p>
            <a:r>
              <a:t>[3] https://arxiv.org/abs/2203.02155</a:t>
            </a:r>
          </a:p>
          <a:p>
            <a:r>
              <a:t>[4] https://huggingface.co/blog/rlhf</a:t>
            </a:r>
          </a:p>
          <a:p/>
          <a:p>
            <a:r>
              <a:t>网页插图来源</a:t>
            </a:r>
          </a:p>
          <a:p>
            <a:r>
              <a:t>https://huggingface.co/datasets/huggingface/documentation-images/resolve/main/blog/rlhf/reward-model.png</a:t>
            </a:r>
          </a:p>
          <a:p>
            <a:r>
              <a:t>等比例嵌入来源图，源图内文字保留。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8 页：完整训练流程：各阶段如何连接</a:t>
            </a:r>
          </a:p>
          <a:p/>
          <a:p/>
          <a:p>
            <a:r>
              <a:t>讲解</a:t>
            </a:r>
          </a:p>
          <a:p>
            <a:r>
              <a:t>总路线包含数据准备、模型搭建、从头预训练、可选 CPT、SFT、可选偏好对齐及评估保存。CPT 可以跳过，SFT 也可直接加载已有基础模型。对齐路线按需求选择，不要求依次执行 PPO、DPO 和 GRPO。基础模型已经具备语言与部分任务能力，SFT 与对齐进一步改变行为与能力。RAG 是生成时提供检索内容的系统路线，通常不更新生成模型参数，不属于本页的权重训练链。</a:t>
            </a:r>
          </a:p>
          <a:p/>
          <a:p/>
          <a:p>
            <a:r>
              <a:t>本步产出：最终模型权重或适配器、Tokenizer、配置与评估记录</a:t>
            </a:r>
          </a:p>
          <a:p>
            <a:r>
              <a:t>下一步：从第一个阶段开始：准备训练数据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https://arxiv.org/abs/2203.02155</a:t>
            </a:r>
          </a:p>
          <a:p>
            <a:r>
              <a:t>[3] https://arxiv.org/abs/2305.18290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页：2023—2025：开放模型与训练配方</a:t>
            </a:r>
          </a:p>
          <a:p/>
          <a:p/>
          <a:p>
            <a:r>
              <a:t>讲解</a:t>
            </a:r>
          </a:p>
          <a:p>
            <a:r>
              <a:t>本页选择截至 2025 年可查证的代表性节点，属于方法发展脉络，不是实时模型性能排名。SmolLM3 官方博客发表于 2025 年 7 月 8 日，公开描述 3B 模型及其训练蓝图。推理轨迹监督和可验证奖励等后训练方向继续发展，本报告将重点放在基础预训练、SFT 与偏好优化的共同机制。</a:t>
            </a:r>
          </a:p>
          <a:p/>
          <a:p/>
          <a:p/>
          <a:p/>
          <a:p>
            <a:r>
              <a:t>参考资料</a:t>
            </a:r>
          </a:p>
          <a:p>
            <a:r>
              <a:t>[1] https://arxiv.org/abs/2305.14314</a:t>
            </a:r>
          </a:p>
          <a:p>
            <a:r>
              <a:t>[2] https://arxiv.org/abs/2305.18290</a:t>
            </a:r>
          </a:p>
          <a:p>
            <a:r>
              <a:t>[3] https://arxiv.org/abs/2407.21783</a:t>
            </a:r>
          </a:p>
          <a:p>
            <a:r>
              <a:t>[4] https://huggingface.co/blog/smollm3</a:t>
            </a:r>
          </a:p>
          <a:p/>
          <a:p>
            <a:r>
              <a:t>网页插图来源</a:t>
            </a:r>
          </a:p>
          <a:p>
            <a:r>
              <a:t>https://huggingface.co/datasets/HuggingFaceTB/images/resolve/main/smollm3/smollm3-whiteprint.png</a:t>
            </a:r>
          </a:p>
          <a:p>
            <a:r>
              <a:t>裁切公开蓝图中的预训练数据配方区域。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页：收集语料：确定模型会接触哪些内容</a:t>
            </a:r>
          </a:p>
          <a:p>
            <a:r>
              <a:t>所在阶段：数据准备</a:t>
            </a:r>
          </a:p>
          <a:p/>
          <a:p>
            <a:r>
              <a:t>讲解</a:t>
            </a:r>
          </a:p>
          <a:p>
            <a:r>
              <a:t>对话示范主要在 SFT 阶段使用。语料来源并不自动等于数据质量，代码、论文和网页也可能包含重复、错误和不适用内容。收集时保留来源元数据，为去重、分组划分和版本追踪提供依据。</a:t>
            </a:r>
          </a:p>
          <a:p/>
          <a:p>
            <a:r>
              <a:t>用户资料对应章节：4.1</a:t>
            </a:r>
          </a:p>
          <a:p/>
          <a:p>
            <a:r>
              <a:t>本步产出：带来源和许可记录的原始语料</a:t>
            </a:r>
          </a:p>
          <a:p>
            <a:r>
              <a:t>下一步：抽取有效正文并清洗筛选</a:t>
            </a:r>
          </a:p>
          <a:p/>
          <a:p>
            <a:r>
              <a:t>参考资料</a:t>
            </a:r>
          </a:p>
          <a:p>
            <a:r>
              <a:t>[1] https://huggingface.co/spaces/HuggingFaceFW/blogpost-fineweb-v1</a:t>
            </a:r>
          </a:p>
          <a:p>
            <a:r>
              <a:t>[2] https://huggingface.co/docs/datasets/process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页：数据准备</a:t>
            </a:r>
          </a:p>
          <a:p>
            <a:r>
              <a:t>所在阶段：数据准备</a:t>
            </a:r>
          </a:p>
          <a:p/>
          <a:p>
            <a:r>
              <a:t>讲解</a:t>
            </a:r>
          </a:p>
          <a:p>
            <a:r>
              <a:t>数据准备。先形成干净且可追溯的语料，再把文本编码成 Token ID。。本阶段产出：训练 / 验证 / 测试数据、采样配方与 Tokenizer。接下来：先确定训练语料的来源。</a:t>
            </a:r>
          </a:p>
          <a:p/>
          <a:p/>
          <a:p>
            <a:r>
              <a:t>本步产出：训练 / 验证 / 测试数据、采样配方与 Tokenizer</a:t>
            </a:r>
          </a:p>
          <a:p>
            <a:r>
              <a:t>下一步：先确定训练语料的来源</a:t>
            </a:r>
          </a:p>
          <a:p/>
          <a:p>
            <a:r>
              <a:t>参考资料</a:t>
            </a:r>
          </a:p>
          <a:p>
            <a:r>
              <a:t>[1] https://huggingface.co/docs/datasets/process</a:t>
            </a:r>
          </a:p>
          <a:p>
            <a:r>
              <a:t>[2] https://huggingface.co/spaces/HuggingFaceFW/blogpost-fineweb-v1</a:t>
            </a:r>
          </a:p>
          <a:p>
            <a:r>
              <a:t>[3] https://huggingface.co/learn/llm-course/chapter6/5?fw=pt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页：清洗与筛选：保留有效训练内容</a:t>
            </a:r>
          </a:p>
          <a:p>
            <a:r>
              <a:t>所在阶段：数据准备</a:t>
            </a:r>
          </a:p>
          <a:p/>
          <a:p>
            <a:r>
              <a:t>讲解</a:t>
            </a:r>
          </a:p>
          <a:p>
            <a:r>
              <a:t>MinHash 用签名近似表征集合相似性，LSH 将可能相似的文档归入候选集合。这里说明其去重用途，不展开算法推导。质量过滤和隐私检测都可能误报或漏报，因此需要人工抽检与来源分组统计。去重和划分应协同执行，防止训练集与评估集保留近重复内容。</a:t>
            </a:r>
          </a:p>
          <a:p/>
          <a:p>
            <a:r>
              <a:t>用户资料对应章节：4.2</a:t>
            </a:r>
          </a:p>
          <a:p/>
          <a:p>
            <a:r>
              <a:t>本步产出：去重、过滤后的有效文本及处理记录</a:t>
            </a:r>
          </a:p>
          <a:p>
            <a:r>
              <a:t>下一步：划分数据集，确定采样比例</a:t>
            </a:r>
          </a:p>
          <a:p/>
          <a:p>
            <a:r>
              <a:t>参考资料</a:t>
            </a:r>
          </a:p>
          <a:p>
            <a:r>
              <a:t>[1] https://huggingface.co/spaces/HuggingFaceFW/blogpost-fineweb-v1</a:t>
            </a:r>
          </a:p>
          <a:p>
            <a:r>
              <a:t>[2] https://huggingface.co/docs/datasets/process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页：划分与配比：隔离评估，控制训练分布</a:t>
            </a:r>
          </a:p>
          <a:p>
            <a:r>
              <a:t>所在阶段：数据准备</a:t>
            </a:r>
          </a:p>
          <a:p/>
          <a:p>
            <a:r>
              <a:t>讲解</a:t>
            </a:r>
          </a:p>
          <a:p>
            <a:r>
              <a:t>数据集划分比例没有统一标准。需要同时考虑分组隔离、代表性与评估样本规模。按文档数与按 token 数采样产生的分布不同。重复使用稀缺语料会增加曝光和记忆风险。课程式调整配比不是固定要求，应结合各来源验证表现。</a:t>
            </a:r>
          </a:p>
          <a:p/>
          <a:p>
            <a:r>
              <a:t>用户资料对应章节：4.3、4、11.2</a:t>
            </a:r>
          </a:p>
          <a:p/>
          <a:p>
            <a:r>
              <a:t>本步产出：独立数据集合与可追踪的采样配方</a:t>
            </a:r>
          </a:p>
          <a:p>
            <a:r>
              <a:t>下一步：选择或训练 Tokenizer</a:t>
            </a:r>
          </a:p>
          <a:p/>
          <a:p>
            <a:r>
              <a:t>参考资料</a:t>
            </a:r>
          </a:p>
          <a:p>
            <a:r>
              <a:t>[1] https://huggingface.co/docs/datasets/process</a:t>
            </a:r>
          </a:p>
          <a:p>
            <a:r>
              <a:t>[2] https://huggingface.co/spaces/HuggingFaceFW/blogpost-fineweb-v1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13 页：Tokenizer：文本变成 Token ID</a:t>
            </a:r>
          </a:p>
          <a:p>
            <a:r>
              <a:t>所在阶段：数据准备</a:t>
            </a:r>
          </a:p>
          <a:p/>
          <a:p>
            <a:r>
              <a:t>讲解</a:t>
            </a:r>
          </a:p>
          <a:p>
            <a:r>
              <a:t>“人工智能”如何切分取决于分词器，不能按一个汉字一个 token 估算。BPE、WordPiece 和 Unigram 是不同算法，不保证同一文本获得相同序列。特殊标记的字符串、ID 和行为依赖模型。EOT 可用于对话轮次结束，在 SFT 模板页继续说明。训练 Tokenizer 是学习编码规则，Embedding 的参数则在模型优化时学习。</a:t>
            </a:r>
          </a:p>
          <a:p/>
          <a:p>
            <a:r>
              <a:t>用户资料对应章节：5.1–5.3</a:t>
            </a:r>
          </a:p>
          <a:p/>
          <a:p>
            <a:r>
              <a:t>本步产出：词表、特殊标记和 Token ID 序列</a:t>
            </a:r>
          </a:p>
          <a:p>
            <a:r>
              <a:t>下一步：Token ID 进入模型，首先经过 Embedding</a:t>
            </a:r>
          </a:p>
          <a:p/>
          <a:p>
            <a:r>
              <a:t>参考资料</a:t>
            </a:r>
          </a:p>
          <a:p>
            <a:r>
              <a:t>[1] https://huggingface.co/learn/llm-course/chapter6/5?fw=pt</a:t>
            </a:r>
          </a:p>
          <a:p>
            <a:r>
              <a:t>[2]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https://sebastianraschka.com/images/LLMs-from-scratch-images/ch02_compressed/06.webp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14 页：模型完整结构：先看 Token ID 怎样得到预测</a:t>
            </a:r>
          </a:p>
          <a:p>
            <a:r>
              <a:t>所在阶段：模型搭建</a:t>
            </a:r>
          </a:p>
          <a:p/>
          <a:p>
            <a:r>
              <a:t>讲解</a:t>
            </a:r>
          </a:p>
          <a:p>
            <a:r>
              <a:t>主要配置包括词表大小 V、隐藏维度 d、层数 L、注意力头数、前馈宽度和上下文长度。先确定结构与参数形状，再初始化。下方流程是一次前向的数据路径，不表示这些模块分阶段单独训练。现代模型常用 RMSNorm、RoPE、GQA、SwiGLU，具体归一化顺序、共享权重与注意力结构依架构而变。</a:t>
            </a:r>
          </a:p>
          <a:p/>
          <a:p>
            <a:r>
              <a:t>用户资料对应章节：6.1、6.4</a:t>
            </a:r>
          </a:p>
          <a:p/>
          <a:p>
            <a:r>
              <a:t>本步产出：包含随机初始化参数的因果语言模型</a:t>
            </a:r>
          </a:p>
          <a:p>
            <a:r>
              <a:t>下一步：先展开输入端的 Embedding</a:t>
            </a:r>
          </a:p>
          <a:p/>
          <a:p>
            <a:r>
              <a:t>参考资料</a:t>
            </a:r>
          </a:p>
          <a:p>
            <a:r>
              <a:t>[1] https://arxiv.org/abs/1706.03762</a:t>
            </a:r>
          </a:p>
          <a:p>
            <a:r>
              <a:t>[2] https://github.com/rasbt/LLMs-from-scratch</a:t>
            </a:r>
          </a:p>
          <a:p>
            <a:r>
              <a:t>[3] https://arxiv.org/abs/2104.09864</a:t>
            </a:r>
          </a:p>
          <a:p>
            <a:r>
              <a:t>[4] https://arxiv.org/abs/1910.07467</a:t>
            </a:r>
          </a:p>
          <a:p>
            <a:r>
              <a:t>[5] https://arxiv.org/abs/2002.05202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15 页：Embedding：Token ID 查表得到向量</a:t>
            </a:r>
          </a:p>
          <a:p>
            <a:r>
              <a:t>所在阶段：模型搭建</a:t>
            </a:r>
          </a:p>
          <a:p/>
          <a:p>
            <a:r>
              <a:t>讲解</a:t>
            </a:r>
          </a:p>
          <a:p>
            <a:r>
              <a:t>向量数值是教学示意。相同 ID 在相同嵌入矩阵中查到相同输入向量，经过上下文计算后的隐藏状态可以不同。随机嵌入尚未形成稳定语言语义。若输入嵌入与输出权重共享，输出端梯度也会影响同一参数。微调时不能任意重新排列词表 ID。</a:t>
            </a:r>
          </a:p>
          <a:p/>
          <a:p>
            <a:r>
              <a:t>用户资料对应章节：6.2</a:t>
            </a:r>
          </a:p>
          <a:p/>
          <a:p>
            <a:r>
              <a:t>本步产出：每个 token 的连续向量表示</a:t>
            </a:r>
          </a:p>
          <a:p>
            <a:r>
              <a:t>下一步：向量进入注意力模块，结合上下文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https://sebastianraschka.com/images/LLMs-from-scratch-images/ch02_compressed/16.webp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16 页：Attention：在可见前缀中聚合上下文</a:t>
            </a:r>
          </a:p>
          <a:p>
            <a:r>
              <a:t>所在阶段：模型搭建</a:t>
            </a:r>
          </a:p>
          <a:p/>
          <a:p>
            <a:r>
              <a:t>讲解</a:t>
            </a:r>
          </a:p>
          <a:p>
            <a:r>
              <a:t>公式中 M 在不可见位置使用负无穷等屏蔽值，缩放项缓和点积幅度，Softmax 形成归一化权重。RoPE 通常作用于 Q/K，并非简单添加到所有输入向量。这里保留注意力公式以解释流程，不推导。训练时可以同时计算多个位置，但每个位置的可见范围仍受因果约束。</a:t>
            </a:r>
          </a:p>
          <a:p/>
          <a:p>
            <a:r>
              <a:t>用户资料对应章节：6.3</a:t>
            </a:r>
          </a:p>
          <a:p/>
          <a:p>
            <a:r>
              <a:t>本步产出：包含可见上下文信息的表示</a:t>
            </a:r>
          </a:p>
          <a:p>
            <a:r>
              <a:t>下一步：通过前馈网络继续变换表示</a:t>
            </a:r>
          </a:p>
          <a:p/>
          <a:p>
            <a:r>
              <a:t>参考资料</a:t>
            </a:r>
          </a:p>
          <a:p>
            <a:r>
              <a:t>[1] https://arxiv.org/abs/1706.03762</a:t>
            </a:r>
          </a:p>
          <a:p>
            <a:r>
              <a:t>[2] https://arxiv.org/abs/2104.09864</a:t>
            </a:r>
          </a:p>
          <a:p>
            <a:r>
              <a:t>[3]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https://sebastianraschka.com/images/LLMs-from-scratch-images/ch03_compressed/25.webp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页：FFN、归一化与残差连接</a:t>
            </a:r>
          </a:p>
          <a:p>
            <a:r>
              <a:t>所在阶段：模型搭建</a:t>
            </a:r>
          </a:p>
          <a:p/>
          <a:p>
            <a:r>
              <a:t>讲解</a:t>
            </a:r>
          </a:p>
          <a:p>
            <a:r>
              <a:t>以常见 Pre-Norm Block 为例：归一化、注意力、残差相加，然后归一化、前馈、残差相加。两条残差连接都需要对应维度相容。原始 GPT 使用的激活和现代 SwiGLU 变体不同，图仅解释前馈网络的功能。RMSNorm 不减均值，与 LayerNorm 并不相同。Dropout 等机制可按架构配置。</a:t>
            </a:r>
          </a:p>
          <a:p/>
          <a:p>
            <a:r>
              <a:t>用户资料对应章节：6.1、6.4</a:t>
            </a:r>
          </a:p>
          <a:p/>
          <a:p>
            <a:r>
              <a:t>本步产出：多层处理后的隐藏状态 [B,T,d]</a:t>
            </a:r>
          </a:p>
          <a:p>
            <a:r>
              <a:t>下一步：通过 LM Head 得到词表分数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https://arxiv.org/abs/1910.07467</a:t>
            </a:r>
          </a:p>
          <a:p>
            <a:r>
              <a:t>[3] https://arxiv.org/abs/2002.05202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https://sebastianraschka.com/images/LLMs-from-scratch-images/ch04_compressed/10.webp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页：LM Head：隐藏表示变成词表预测</a:t>
            </a:r>
          </a:p>
          <a:p>
            <a:r>
              <a:t>所在阶段：模型搭建</a:t>
            </a:r>
          </a:p>
          <a:p/>
          <a:p>
            <a:r>
              <a:t>讲解</a:t>
            </a:r>
          </a:p>
          <a:p>
            <a:r>
              <a:t>7B 指约 70 亿可学习参数，与数据条数不同。模型大小主要受 V、d、L、注意力配置和前馈宽度影响。max_position_embeddings 是位置相关配置，不能直接解释为一张固定可学习位置表，具体依架构。输出概率并不是直接可读的完整答案，生成需要按序迭代。</a:t>
            </a:r>
          </a:p>
          <a:p/>
          <a:p>
            <a:r>
              <a:t>用户资料对应章节：6.4、7.1</a:t>
            </a:r>
          </a:p>
          <a:p/>
          <a:p>
            <a:r>
              <a:t>本步产出：各位置的下一 token 分数与概率</a:t>
            </a:r>
          </a:p>
          <a:p>
            <a:r>
              <a:t>下一步：用准备好的 Batch 执行预训练循环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https://sebastianraschka.com/images/LLMs-from-scratch-images/ch04_compressed/17.webp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页：预训练：一次更新怎样不断重复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模型与 Tokenizer 已准备就绪。一次更新读取一个或多个微批次，经过前向、损失、反向，最后由优化器更新权重。梯度累积时，多个微批次共享一次更新边界。验证和保存位于训练循环之外的周期性分支，不用验证样本更新参数。训练以累计 token、更新次数或其他预算为停止依据。</a:t>
            </a:r>
          </a:p>
          <a:p/>
          <a:p>
            <a:r>
              <a:t>用户资料对应章节：7.2、8、9、10</a:t>
            </a:r>
          </a:p>
          <a:p/>
          <a:p>
            <a:r>
              <a:t>本步产出：经过大量参数更新的基础模型</a:t>
            </a:r>
          </a:p>
          <a:p>
            <a:r>
              <a:t>下一步：从构造输入 Batch 开始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https://arxiv.org/abs/1711.05101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页：构造 Batch：文本怎样成为输入与标签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Packing 是否允许跨文档注意力需要明确定义。数据集要在切块前按合理分组隔离。Loader 或 Collator 负责形成张量并保留必要掩码。input_ids 形状为 [B,T]，labels 与模型的偏移约定匹配，attention_mask 常描述非填充位置。此时尚未更新参数。</a:t>
            </a:r>
          </a:p>
          <a:p/>
          <a:p>
            <a:r>
              <a:t>用户资料对应章节：7.1、8.1、9.4</a:t>
            </a:r>
          </a:p>
          <a:p/>
          <a:p>
            <a:r>
              <a:t>本步产出：Input IDs、标签及相应掩码</a:t>
            </a:r>
          </a:p>
          <a:p>
            <a:r>
              <a:t>下一步：将 Batch 送入模型执行前向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https://huggingface.co/docs/datasets/process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https://sebastianraschka.com/images/LLMs-from-scratch-images/ch05_compressed/09.webp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页：前向传播：从 Batch 得到预测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同时预测多个位置通常称为并行的 teacher-forced 语言建模计算。每个位置使用真实前缀而不是把前一个预测采样结果回灌。计算图和部分激活供反向传播使用。前向本身不等于优化器参数更新。</a:t>
            </a:r>
          </a:p>
          <a:p/>
          <a:p>
            <a:r>
              <a:t>用户资料对应章节：7.1–7.2</a:t>
            </a:r>
          </a:p>
          <a:p/>
          <a:p>
            <a:r>
              <a:t>本步产出：保留计算关系的 Logits</a:t>
            </a:r>
          </a:p>
          <a:p>
            <a:r>
              <a:t>下一步：与真实下一 token 比较，计算 Loss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https://sebastianraschka.com/images/LLMs-from-scratch-images/ch05_compressed/03.webp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22 页：计算 Loss：衡量真实下一 token 的预测误差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m_t=1 表示该位置参与监督，0 表示忽略。公式要求有效 token 总数非零。自回归分解 P(x_1…x_T)=∏P(x_t|x_&lt;t)。交叉熵计算常由数值稳定的 LogSoftmax 实现，不必真的先显式 Softmax 再取对数。PPL=exp(L) 的可比性在验收页说明。</a:t>
            </a:r>
          </a:p>
          <a:p/>
          <a:p>
            <a:r>
              <a:t>用户资料对应章节：7.1、10</a:t>
            </a:r>
          </a:p>
          <a:p/>
          <a:p>
            <a:r>
              <a:t>本步产出：一个可反向传播的标量损失</a:t>
            </a:r>
          </a:p>
          <a:p>
            <a:r>
              <a:t>下一步：从 Loss 沿计算关系反向计算梯度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https://sebastianraschka.com/images/LLMs-from-scratch-images/ch05_compressed/07.webp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23 页：反向传播：从损失得到参数梯度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冻结参数不更新，并不表示反向信号不能经过对应运算传到适配器或上游参数。不同实现会对冻结权重的梯度存储进行优化。梯度是局部敏感性而非最终性能提升保证。有效更新需要梯度、优化状态、学习率与参数集合的一致定义。</a:t>
            </a:r>
          </a:p>
          <a:p/>
          <a:p>
            <a:r>
              <a:t>用户资料对应章节：7.2、8.3</a:t>
            </a:r>
          </a:p>
          <a:p/>
          <a:p>
            <a:r>
              <a:t>本步产出：可训练参数对应的梯度</a:t>
            </a:r>
          </a:p>
          <a:p>
            <a:r>
              <a:t>下一步：梯度交给优化器，更新权重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https://docs.pytorch.org/tutorials/recipes/recipes/amp_recipe.html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24 页：参数更新：优化器真正改变模型权重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公式是一般优化器更新的概念表达，Update 不是简单恒等映射。AdamW 使用一二阶梯度统计、偏差修正、epsilon，并将衰减与梯度适应项解耦。梯度裁剪不代替数据、标签或数值问题的定位。学习率通常按优化器更新次数而不是任意读取次数推进。</a:t>
            </a:r>
          </a:p>
          <a:p/>
          <a:p>
            <a:r>
              <a:t>用户资料对应章节：7.2、8.2</a:t>
            </a:r>
          </a:p>
          <a:p/>
          <a:p>
            <a:r>
              <a:t>本步产出：新权重 θₜ₊₁ 与更新后的优化器状态</a:t>
            </a:r>
          </a:p>
          <a:p>
            <a:r>
              <a:t>下一步：把一次更新组织成可计量的训练过程</a:t>
            </a:r>
          </a:p>
          <a:p/>
          <a:p>
            <a:r>
              <a:t>参考资料</a:t>
            </a:r>
          </a:p>
          <a:p>
            <a:r>
              <a:t>[1] https://arxiv.org/abs/1711.05101</a:t>
            </a:r>
          </a:p>
          <a:p>
            <a:r>
              <a:t>[2] https://github.com/rasbt/LLMs-from-scratch</a:t>
            </a:r>
          </a:p>
          <a:p>
            <a:r>
              <a:t>[3] https://docs.pytorch.org/tutorials/recipes/recipes/amp_recipe.html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25 页：Batch、Step 与梯度累积：一次更新含多少数据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例如单卡微批量2、累积8次，对应16条序列的一次更新，但有效 token 数依长度与掩码而变。等长且有效 token 一致时可对微批次均值按累积次数缩放，变长时要按 token 总量归一化。预训练通常更关注累计 token 与 optimizer steps。累积与一次性大批次仍可能因随机性和数值顺序而不同。</a:t>
            </a:r>
          </a:p>
          <a:p/>
          <a:p>
            <a:r>
              <a:t>用户资料对应章节：8.1、8.3</a:t>
            </a:r>
          </a:p>
          <a:p/>
          <a:p>
            <a:r>
              <a:t>本步产出：清楚定义的更新次数、有效批量和 token 计数</a:t>
            </a:r>
          </a:p>
          <a:p>
            <a:r>
              <a:t>下一步：确定训练预算与学习率随进度的变化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https://huggingface.co/docs/trl/sft_trainer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26 页：训练预算与学习率：循环何时减速和停止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图为10% Warmup加余弦衰减的理论示意，不是超参数建议或实际训练结果。C≈6ND 忽略部分注意力等开销，不等于训练时间。N=1B、D=20B 时约1.2×10^20 FLOPs。材料中的学习率、衰减与种子例值均不是通用最优配置。微调通常重估学习率，不照搬预训练设置。</a:t>
            </a:r>
          </a:p>
          <a:p/>
          <a:p>
            <a:r>
              <a:t>用户资料对应章节：8.2、8.4</a:t>
            </a:r>
          </a:p>
          <a:p/>
          <a:p>
            <a:r>
              <a:t>本步产出：明确的训练预算和学习率曲线</a:t>
            </a:r>
          </a:p>
          <a:p>
            <a:r>
              <a:t>下一步：确认训练状态与激活能否容纳于显存</a:t>
            </a:r>
          </a:p>
          <a:p/>
          <a:p>
            <a:r>
              <a:t>参考资料</a:t>
            </a:r>
          </a:p>
          <a:p>
            <a:r>
              <a:t>[1] https://arxiv.org/abs/2203.15556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27 页：显存与精度：训练时需要保存哪些状态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7B BF16 权重约14GB，不能据此判断16GB显卡能够全参训练。常见带FP32主权重的混合精度AdamW常驻状态约16–18 bytes/参数，不含激活；具体实现可能不同。BF16指数范围较大，FP16精度和范围不同。Loss scaler、主权重和优化器状态依实现而定。资源信息仅描述组成，不给设备兼容性保证。</a:t>
            </a:r>
          </a:p>
          <a:p/>
          <a:p>
            <a:r>
              <a:t>用户资料对应章节：9.1–9.2</a:t>
            </a:r>
          </a:p>
          <a:p/>
          <a:p>
            <a:r>
              <a:t>本步产出：显存组成与数值精度方案</a:t>
            </a:r>
          </a:p>
          <a:p>
            <a:r>
              <a:t>下一步：进一步减少中间激活和注意力访存开销</a:t>
            </a:r>
          </a:p>
          <a:p/>
          <a:p>
            <a:r>
              <a:t>参考资料</a:t>
            </a:r>
          </a:p>
          <a:p>
            <a:r>
              <a:t>[1] https://docs.pytorch.org/tutorials/recipes/recipes/amp_recipe.html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28 页：激活检查点与 FlashAttention：优化计算中的存储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激活检查点不是模型训练检查点文件。前者重算中间结果，后者保存可恢复状态。FlashAttention 的数值误差可能依浮点计算顺序变化，但算法计算同一类注意力，不是通过删除注意力项近似。可用算子及组合方式依硬件与软件实现，不讨论多设备机制。</a:t>
            </a:r>
          </a:p>
          <a:p/>
          <a:p>
            <a:r>
              <a:t>用户资料对应章节：9.3（非分布式技术）</a:t>
            </a:r>
          </a:p>
          <a:p/>
          <a:p>
            <a:r>
              <a:t>本步产出：更可控的计算与显存开销</a:t>
            </a:r>
          </a:p>
          <a:p>
            <a:r>
              <a:t>下一步：监控循环运行，并保存可恢复的状态</a:t>
            </a:r>
          </a:p>
          <a:p/>
          <a:p>
            <a:r>
              <a:t>参考资料</a:t>
            </a:r>
          </a:p>
          <a:p>
            <a:r>
              <a:t>[1] https://arxiv.org/abs/2205.14135</a:t>
            </a:r>
          </a:p>
          <a:p>
            <a:r>
              <a:t>[2] https://docs.pytorch.org/tutorials/recipes/recipes/amp_recipe.html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29 页：训练监控与检查点：循环中怎样观察和恢复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只保存权重足以支持某些加载需求，但不足以恢复完整优化轨迹。数据读取器和采样状态有助于避免恢复时重复或跳过大量数据。若保存发生在累积窗口中间，还需处理未完成的累积梯度。跨软硬件不保证逐位一致。验证时不更新权重，训练模式与评估模式也可能影响Dropout。</a:t>
            </a:r>
          </a:p>
          <a:p/>
          <a:p>
            <a:r>
              <a:t>用户资料对应章节：9.4</a:t>
            </a:r>
          </a:p>
          <a:p/>
          <a:p>
            <a:r>
              <a:t>本步产出：训练记录与可接续的检查点</a:t>
            </a:r>
          </a:p>
          <a:p>
            <a:r>
              <a:t>下一步：根据预算、验证与能力指标验收基础模型</a:t>
            </a:r>
          </a:p>
          <a:p/>
          <a:p>
            <a:r>
              <a:t>参考资料</a:t>
            </a:r>
          </a:p>
          <a:p>
            <a:r>
              <a:t>[1] https://docs.pytorch.org/tutorials/recipes/recipes/saving_and_loading_a_general_checkpoint.html</a:t>
            </a:r>
          </a:p>
          <a:p>
            <a:r>
              <a:t>[2]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https://sebastianraschka.com/images/LLMs-from-scratch-images/ch05_compressed/16.webp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30 页：预训练验收：何时得到可用的基础模型</a:t>
            </a:r>
          </a:p>
          <a:p>
            <a:r>
              <a:t>所在阶段：预训练</a:t>
            </a:r>
          </a:p>
          <a:p/>
          <a:p>
            <a:r>
              <a:t>讲解</a:t>
            </a:r>
          </a:p>
          <a:p>
            <a:r>
              <a:t>基础模型的任务分数需要使用合适提示，尚未经过SFT时不要求遵循任意对话模板。低PPL不能直接等价于问答质量。没有统一的损失阈值可判定训练完成。训练预算、验证走势和目标能力共同构成验收条件。</a:t>
            </a:r>
          </a:p>
          <a:p/>
          <a:p>
            <a:r>
              <a:t>用户资料对应章节：10</a:t>
            </a:r>
          </a:p>
          <a:p/>
          <a:p>
            <a:r>
              <a:t>本步产出：通过阶段验收的 Base Model</a:t>
            </a:r>
          </a:p>
          <a:p>
            <a:r>
              <a:t>下一步：按需求进入可选 CPT，或直接进入 SFT</a:t>
            </a:r>
          </a:p>
          <a:p/>
          <a:p>
            <a:r>
              <a:t>参考资料</a:t>
            </a:r>
          </a:p>
          <a:p>
            <a:r>
              <a:t>[1] https://github.com/EleutherAI/lm-evaluation-harness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31 页：CPT ：在已有权重上继续语言建模</a:t>
            </a:r>
          </a:p>
          <a:p>
            <a:r>
              <a:t>所在阶段：CPT</a:t>
            </a:r>
          </a:p>
          <a:p/>
          <a:p>
            <a:r>
              <a:t>讲解</a:t>
            </a:r>
          </a:p>
          <a:p>
            <a:r>
              <a:t>CPT ：在已有权重上继续语言建模。可选阶段，目标是适应新的文本分布。。本阶段产出：继续适应数据分布的模型。接下来：按顺序展开 CPT 的数据、更新与验收。</a:t>
            </a:r>
          </a:p>
          <a:p/>
          <a:p>
            <a:r>
              <a:t>用户资料对应章节：11</a:t>
            </a:r>
          </a:p>
          <a:p/>
          <a:p>
            <a:r>
              <a:t>本步产出：继续适应数据分布的模型</a:t>
            </a:r>
          </a:p>
          <a:p>
            <a:r>
              <a:t>下一步：按顺序展开 CPT 的数据、更新与验收</a:t>
            </a:r>
          </a:p>
          <a:p/>
          <a:p>
            <a:r>
              <a:t>参考资料</a:t>
            </a:r>
          </a:p>
          <a:p>
            <a:r>
              <a:t>[1] https://arxiv.org/abs/2004.10964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32 页：执行 CPT：哪些沿用，哪些需要调整</a:t>
            </a:r>
          </a:p>
          <a:p>
            <a:r>
              <a:t>所在阶段：CPT</a:t>
            </a:r>
          </a:p>
          <a:p/>
          <a:p>
            <a:r>
              <a:t>讲解</a:t>
            </a:r>
          </a:p>
          <a:p>
            <a:r>
              <a:t>CPT 不必限定领域语料，通用新数据也可用于继续预训练。过窄、重复过多或更新过强的数据可能带来记忆和灾难性遗忘。若从指令模型开始CPT，应复测对话行为。CPT不会自动教会标准问答模板。模型路线图把CPT画在预训练与SFT之间，其他顺序也存在，但本报告保持这条主线。</a:t>
            </a:r>
          </a:p>
          <a:p/>
          <a:p>
            <a:r>
              <a:t>用户资料对应章节：11.1–11.2</a:t>
            </a:r>
          </a:p>
          <a:p/>
          <a:p>
            <a:r>
              <a:t>本步产出：有明确收益与退化记录的 CPT 模型</a:t>
            </a:r>
          </a:p>
          <a:p>
            <a:r>
              <a:t>下一步：用示范回答进行监督微调</a:t>
            </a:r>
          </a:p>
          <a:p/>
          <a:p>
            <a:r>
              <a:t>参考资料</a:t>
            </a:r>
          </a:p>
          <a:p>
            <a:r>
              <a:t>[1] https://arxiv.org/abs/2004.10964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33 页：SFT ：基础模型如何学习指令回答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SFT ：基础模型如何学习指令回答。先看完整流程，再依次展开数据、监督位置和参数更新方式。。本阶段产出：能够遵循目标指令的模型或适配器。接下来：先确定 SFT 数据包含什么。</a:t>
            </a:r>
          </a:p>
          <a:p/>
          <a:p>
            <a:r>
              <a:t>用户资料对应章节：12–13</a:t>
            </a:r>
          </a:p>
          <a:p/>
          <a:p>
            <a:r>
              <a:t>本步产出：能够遵循目标指令的模型或适配器</a:t>
            </a:r>
          </a:p>
          <a:p>
            <a:r>
              <a:t>下一步：先确定 SFT 数据包含什么</a:t>
            </a:r>
          </a:p>
          <a:p/>
          <a:p>
            <a:r>
              <a:t>参考资料</a:t>
            </a:r>
          </a:p>
          <a:p>
            <a:r>
              <a:t>[1] https://huggingface.co/docs/trl/sft_trainer</a:t>
            </a:r>
          </a:p>
          <a:p>
            <a:r>
              <a:t>[2] https://huggingface.co/docs/peft/developer_guides/lora</a:t>
            </a:r>
          </a:p>
          <a:p>
            <a:r>
              <a:t>[3]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34 页：SFT 数据：提供指令和期望回答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概念示例使用通用问答，不涉及实际训练实验。SFT不只是改变格式，示范答案内容也会影响模型知识和能力。合成数据需要记录来源并核验错误与同质化。多轮示范不能使用未来轮次的信息回答当前问题。</a:t>
            </a:r>
          </a:p>
          <a:p/>
          <a:p>
            <a:r>
              <a:t>用户资料对应章节：12.1–12.2</a:t>
            </a:r>
          </a:p>
          <a:p/>
          <a:p>
            <a:r>
              <a:t>本步产出：可用于监督的指令与示范数据</a:t>
            </a:r>
          </a:p>
          <a:p>
            <a:r>
              <a:t>下一步：用模型指定模板编码对话</a:t>
            </a:r>
          </a:p>
          <a:p/>
          <a:p>
            <a:r>
              <a:t>参考资料</a:t>
            </a:r>
          </a:p>
          <a:p>
            <a:r>
              <a:t>[1] https://huggingface.co/docs/trl/sft_trainer</a:t>
            </a:r>
          </a:p>
          <a:p>
            <a:r>
              <a:t>[2]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https://sebastianraschka.com/images/LLMs-from-scratch-images/ch07_compressed/02.webp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35 页：Chat Template：对话怎样变成一条序列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模板是模型相关的序列化规则，不是通用固定字符串。实际模板可能提供助手位置标识，是否支持需与训练器匹配。重复BOS/EOS、错误EOT或角色边界会改变序列分布。原资料包含JSON与代码，本页用可编辑角色序列解释相同概念，不展示操作代码。</a:t>
            </a:r>
          </a:p>
          <a:p/>
          <a:p>
            <a:r>
              <a:t>用户资料对应章节：12.2</a:t>
            </a:r>
          </a:p>
          <a:p/>
          <a:p>
            <a:r>
              <a:t>本步产出：带有角色边界与结束标记的 token 序列</a:t>
            </a:r>
          </a:p>
          <a:p>
            <a:r>
              <a:t>下一步：决定哪些 token 位置计算监督损失</a:t>
            </a:r>
          </a:p>
          <a:p/>
          <a:p>
            <a:r>
              <a:t>参考资料</a:t>
            </a:r>
          </a:p>
          <a:p>
            <a:r>
              <a:t>[1] https://huggingface.co/docs/transformers/chat_templating</a:t>
            </a:r>
          </a:p>
          <a:p>
            <a:r>
              <a:t>[2] https://huggingface.co/docs/trl/sft_trainer</a:t>
            </a:r>
          </a:p>
          <a:p>
            <a:r>
              <a:t>[3]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36 页：Loss Mask：回答怎样成为监督目标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−100是常见交叉熵实现的ignore_index约定，不是模型词表中的token。Loss Mask、因果掩码、Padding掩码含义不同。屏蔽某位置的损失并不自动禁止对该输入位置的注意力。也有SFT使用完整序列损失，不能把助手监督理解为所有方案的强制规则。</a:t>
            </a:r>
          </a:p>
          <a:p/>
          <a:p>
            <a:r>
              <a:t>用户资料对应章节：12.3</a:t>
            </a:r>
          </a:p>
          <a:p/>
          <a:p>
            <a:r>
              <a:t>本步产出：带有明确回答监督区域的标签</a:t>
            </a:r>
          </a:p>
          <a:p>
            <a:r>
              <a:t>下一步：选择本次微调允许更新的参数</a:t>
            </a:r>
          </a:p>
          <a:p/>
          <a:p>
            <a:r>
              <a:t>参考资料</a:t>
            </a:r>
          </a:p>
          <a:p>
            <a:r>
              <a:t>[1] https://huggingface.co/docs/trl/sft_trainer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37 页：选择更新方式：全参数微调或 PEFT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PEFT还包括其他方式，本报告按资料重点展开LoRA与QLoRA。冻结部分层也可以作为参数更新范围选择。可训练参数减少不等于总计算量按相同比例减少，因为前向及部分反向仍经过基座。LoRA可用于SFT，也可与某些偏好目标结合。</a:t>
            </a:r>
          </a:p>
          <a:p/>
          <a:p>
            <a:r>
              <a:t>用户资料对应章节：13.1</a:t>
            </a:r>
          </a:p>
          <a:p/>
          <a:p>
            <a:r>
              <a:t>本步产出：明确的冻结参数、可训练参数与保存方案</a:t>
            </a:r>
          </a:p>
          <a:p>
            <a:r>
              <a:t>下一步：展开 LoRA，再说明 QLoRA 的变化</a:t>
            </a:r>
          </a:p>
          <a:p/>
          <a:p>
            <a:r>
              <a:t>参考资料</a:t>
            </a:r>
          </a:p>
          <a:p>
            <a:r>
              <a:t>[1] https://huggingface.co/docs/peft/developer_guides/lora</a:t>
            </a:r>
          </a:p>
          <a:p>
            <a:r>
              <a:t>[2] https://arxiv.org/abs/2106.09685</a:t>
            </a:r>
          </a:p>
          <a:p>
            <a:r>
              <a:t>[3] https://arxiv.org/abs/2305.14314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38 页：LoRA：冻结原权重，训练低秩增量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原始LoRA常将A随机初始化、B初始化为零，使初始增量为零。W为d_out×d_in，A为r×d_in，B为d_out×r。d=4096、r=16时，适配器参数为131072，约为原矩阵16777216的0.78%，仅为该线性层的数学示例。目标层可覆盖注意力或前馈线性层，具体模块名称随模型变化。</a:t>
            </a:r>
          </a:p>
          <a:p/>
          <a:p>
            <a:r>
              <a:t>用户资料对应章节：13.2–13.3</a:t>
            </a:r>
          </a:p>
          <a:p/>
          <a:p>
            <a:r>
              <a:t>本步产出：训练好的低秩参数及适配器配置</a:t>
            </a:r>
          </a:p>
          <a:p>
            <a:r>
              <a:t>下一步：在相同更新思路下进一步量化基座</a:t>
            </a:r>
          </a:p>
          <a:p/>
          <a:p>
            <a:r>
              <a:t>参考资料</a:t>
            </a:r>
          </a:p>
          <a:p>
            <a:r>
              <a:t>[1] https://arxiv.org/abs/2106.09685</a:t>
            </a:r>
          </a:p>
          <a:p>
            <a:r>
              <a:t>[2] https://huggingface.co/docs/peft/developer_guides/lora</a:t>
            </a:r>
          </a:p>
          <a:p/>
          <a:p>
            <a:r>
              <a:t>网页插图来源</a:t>
            </a:r>
          </a:p>
          <a:p>
            <a:r>
              <a:t>https://huggingface.co/datasets/trl-internal-testing/example-images/resolve/main/blog/133_trl_peft/lora-animated.gif</a:t>
            </a:r>
          </a:p>
          <a:p>
            <a:r>
              <a:t>取公开动画的一帧。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39 页：QLoRA：量化基座，继续训练适配器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NF4针对近似正态权重分布设计，Double Quantization进一步量化存储量化常数。分页优化器的可用性依实现。LoRA适配器与原基座版本、量化方式和计算精度共同决定加载行为。QLoRA降低部分显存开销，但不能保证任意大模型在任意设备上训练。</a:t>
            </a:r>
          </a:p>
          <a:p/>
          <a:p>
            <a:r>
              <a:t>用户资料对应章节：13.4</a:t>
            </a:r>
          </a:p>
          <a:p/>
          <a:p>
            <a:r>
              <a:t>本步产出：匹配量化基座的可训练 Adapter</a:t>
            </a:r>
          </a:p>
          <a:p>
            <a:r>
              <a:t>下一步：执行 SFT，并比较验证表现</a:t>
            </a:r>
          </a:p>
          <a:p/>
          <a:p>
            <a:r>
              <a:t>参考资料</a:t>
            </a:r>
          </a:p>
          <a:p>
            <a:r>
              <a:t>[1] https://arxiv.org/abs/2305.14314</a:t>
            </a:r>
          </a:p>
          <a:p>
            <a:r>
              <a:t>[2] https://huggingface.co/blog/4bit-transformers-bitsandbytes</a:t>
            </a:r>
          </a:p>
          <a:p/>
          <a:p>
            <a:r>
              <a:t>网页插图来源</a:t>
            </a:r>
          </a:p>
          <a:p>
            <a:r>
              <a:t>https://arxiv.org/html/2305.14314v1/qlora.png</a:t>
            </a:r>
          </a:p>
          <a:p>
            <a:r>
              <a:t>等比例嵌入来源图，源图内文字保留。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40 页：执行 SFT：沿用训练循环，改变监督条件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资料中的LoRA学习率1e-4、1–3个Epoch、r=16等只是示例，不能当作普适推荐。全参数微调常采用比LoRA更谨慎的学习率，但仍需验证。样本长度、回答占比和训练token影响更新强度。此页只讲训练过程和参数作用，不提供可执行配置或实践步骤。</a:t>
            </a:r>
          </a:p>
          <a:p/>
          <a:p>
            <a:r>
              <a:t>用户资料对应章节：12.4</a:t>
            </a:r>
          </a:p>
          <a:p/>
          <a:p>
            <a:r>
              <a:t>本步产出：多个 SFT 检查点与训练、验证记录</a:t>
            </a:r>
          </a:p>
          <a:p>
            <a:r>
              <a:t>下一步：选出满足指令任务要求的版本</a:t>
            </a:r>
          </a:p>
          <a:p/>
          <a:p>
            <a:r>
              <a:t>参考资料</a:t>
            </a:r>
          </a:p>
          <a:p>
            <a:r>
              <a:t>[1] https://huggingface.co/docs/trl/sft_trainer</a:t>
            </a:r>
          </a:p>
          <a:p>
            <a:r>
              <a:t>[2] https://huggingface.co/docs/peft/developer_guides/lora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41 页：SFT 验收：指令模型是否真正改善</a:t>
            </a:r>
          </a:p>
          <a:p>
            <a:r>
              <a:t>所在阶段：SFT</a:t>
            </a:r>
          </a:p>
          <a:p/>
          <a:p>
            <a:r>
              <a:t>讲解</a:t>
            </a:r>
          </a:p>
          <a:p>
            <a:r>
              <a:t>训练Loss下降不等于任务成功。不同阶段的Loss覆盖区域可能不同，不能把预训练全序列Loss与SFT回答Loss直接视为同一量。验证应包括未见指令和通用能力回归。SFT可能已足以满足目标，偏好对齐是可选路线而非必经步骤。</a:t>
            </a:r>
          </a:p>
          <a:p/>
          <a:p>
            <a:r>
              <a:t>用户资料对应章节：12、16、18</a:t>
            </a:r>
          </a:p>
          <a:p/>
          <a:p>
            <a:r>
              <a:t>本步产出：通过验收的 Instruction Model 或 Adapter</a:t>
            </a:r>
          </a:p>
          <a:p>
            <a:r>
              <a:t>下一步：需要进一步改善回答偏好时，进入可选对齐</a:t>
            </a:r>
          </a:p>
          <a:p/>
          <a:p>
            <a:r>
              <a:t>参考资料</a:t>
            </a:r>
          </a:p>
          <a:p>
            <a:r>
              <a:t>[1] https://huggingface.co/docs/trl/sft_trainer</a:t>
            </a:r>
          </a:p>
          <a:p>
            <a:r>
              <a:t>[2] https://github.com/EleutherAI/lm-evaluation-harness</a:t>
            </a:r>
          </a:p>
          <a:p>
            <a:r>
              <a:t>[3] https://github.com/rasbt/LLMs-from-scratch</a:t>
            </a:r>
          </a:p>
          <a:p/>
          <a:p>
            <a:r>
              <a:t>网页插图来源</a:t>
            </a:r>
          </a:p>
          <a:p>
            <a:r>
              <a:t>https://sebastianraschka.com/images/LLMs-from-scratch-images/ch07_compressed/19.webp</a:t>
            </a:r>
          </a:p>
          <a:p>
            <a:r>
              <a:t>等比例嵌入来源图，源图内文字保留。</a:t>
            </a:r>
          </a:p>
          <a:p>
            <a:r>
              <a:t>图像作者：Sebastian Raschka，Build a Large Language Model (From Scratch) 公开教学图。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42 页：偏好对齐：先选路线，再优化回答倾向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经典PPO式RLHF先学习奖励模型，再在线采样并优化策略。标准DPO直接使用离线偏好对和参考模型，不单独训练显式奖励模型。GRPO基于同题多份回答的组内相对奖励，是另一策略优化方法。三者不能画成必须依次执行的阶段。</a:t>
            </a:r>
          </a:p>
          <a:p/>
          <a:p>
            <a:r>
              <a:t>用户资料对应章节：15</a:t>
            </a:r>
          </a:p>
          <a:p/>
          <a:p>
            <a:r>
              <a:t>本步产出：通过独立偏好与能力检查的模型</a:t>
            </a:r>
          </a:p>
          <a:p>
            <a:r>
              <a:t>下一步：先看两条路线共同使用的偏好信息</a:t>
            </a:r>
          </a:p>
          <a:p/>
          <a:p>
            <a:r>
              <a:t>参考资料</a:t>
            </a:r>
          </a:p>
          <a:p>
            <a:r>
              <a:t>[1] https://arxiv.org/abs/2203.02155</a:t>
            </a:r>
          </a:p>
          <a:p>
            <a:r>
              <a:t>[2] https://huggingface.co/blog/rlhf</a:t>
            </a:r>
          </a:p>
          <a:p>
            <a:r>
              <a:t>[3] https://arxiv.org/abs/2305.18290</a:t>
            </a:r>
          </a:p>
          <a:p>
            <a:r>
              <a:t>[4] https://huggingface.co/docs/trl/grpo_trainer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43 页：偏好数据：同一问题，哪个回答更好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偏好不是绝对真值，长答案或礼貌格式可能形成伪相关。需检查chosen是否总是更长、回答位置是否固定以及不同来源是否存在冲突。偏好数据按提示或来源分组隔离评估。示例使用通用概念解释，不涉及领域助手或真实评测结果。</a:t>
            </a:r>
          </a:p>
          <a:p/>
          <a:p>
            <a:r>
              <a:t>用户资料对应章节：15.1</a:t>
            </a:r>
          </a:p>
          <a:p/>
          <a:p>
            <a:r>
              <a:t>本步产出：可追溯的回答偏好对</a:t>
            </a:r>
          </a:p>
          <a:p>
            <a:r>
              <a:t>下一步：先展开 PPO 式 RLHF 的完整链路</a:t>
            </a:r>
          </a:p>
          <a:p/>
          <a:p>
            <a:r>
              <a:t>参考资料</a:t>
            </a:r>
          </a:p>
          <a:p>
            <a:r>
              <a:t>[1] https://arxiv.org/abs/2203.02155</a:t>
            </a:r>
          </a:p>
          <a:p>
            <a:r>
              <a:t>[2] https://arxiv.org/abs/2305.18290</a:t>
            </a:r>
          </a:p>
          <a:p>
            <a:r>
              <a:t>[3] https://huggingface.co/blog/rlhf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44 页：PPO 式 RLHF ：奖励模型连接偏好与策略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第一段用人类偏好训练奖励模型。第二段从SFT策略开始生成回答，固定奖励模型提供得分，参考策略用于偏离控制，价值模型帮助估计优势。PPO包含采样时的旧策略与更新中的新策略概率比，不应与固定参考模型混淆。</a:t>
            </a:r>
          </a:p>
          <a:p/>
          <a:p>
            <a:r>
              <a:t>用户资料对应章节：15.3</a:t>
            </a:r>
          </a:p>
          <a:p/>
          <a:p>
            <a:r>
              <a:t>本步产出：经过奖励引导与更新约束的策略模型</a:t>
            </a:r>
          </a:p>
          <a:p>
            <a:r>
              <a:t>下一步：沿着采样、评分、优势与更新依次展开</a:t>
            </a:r>
          </a:p>
          <a:p/>
          <a:p>
            <a:r>
              <a:t>参考资料</a:t>
            </a:r>
          </a:p>
          <a:p>
            <a:r>
              <a:t>[1] https://huggingface.co/blog/rlhf</a:t>
            </a:r>
          </a:p>
          <a:p>
            <a:r>
              <a:t>[2] https://arxiv.org/abs/2203.02155</a:t>
            </a:r>
          </a:p>
          <a:p>
            <a:r>
              <a:t>[3] https://arxiv.org/abs/1707.06347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45 页：PPO 更新：回答怎样变成策略梯度信号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PPO裁剪目标常写为E[min(r_t A_t,clip(r_t,1−ε,1+ε)A_t)]。这里仅解释概率比与裁剪含义，不推导。πold是采样策略，πref是固定参考策略，两者用途不同。奖励模型通常在策略优化时冻结。KL约束旨在控制偏离，不保证消除奖励投机。</a:t>
            </a:r>
          </a:p>
          <a:p/>
          <a:p>
            <a:r>
              <a:t>用户资料对应章节：15.3</a:t>
            </a:r>
          </a:p>
          <a:p/>
          <a:p>
            <a:r>
              <a:t>本步产出：完成一轮受约束的策略与价值更新</a:t>
            </a:r>
          </a:p>
          <a:p>
            <a:r>
              <a:t>下一步：再看不单独训练奖励模型的 DPO 路线</a:t>
            </a:r>
          </a:p>
          <a:p/>
          <a:p>
            <a:r>
              <a:t>参考资料</a:t>
            </a:r>
          </a:p>
          <a:p>
            <a:r>
              <a:t>[1] https://arxiv.org/abs/1707.06347</a:t>
            </a:r>
          </a:p>
          <a:p>
            <a:r>
              <a:t>[2] https://arxiv.org/abs/2203.02155</a:t>
            </a:r>
          </a:p>
          <a:p>
            <a:r>
              <a:t>[3] https://huggingface.co/blog/rlhf</a:t>
            </a:r>
          </a:p>
          <a:p/>
          <a:p>
            <a:r>
              <a:t>网页插图来源</a:t>
            </a:r>
          </a:p>
          <a:p>
            <a:r>
              <a:t>https://huggingface.co/datasets/huggingface/documentation-images/resolve/main/blog/rlhf/rlhf.png</a:t>
            </a:r>
          </a:p>
          <a:p>
            <a:r>
              <a:t>等比例嵌入来源图，源图内文字保留。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46 页：DPO ：直接用偏好对更新策略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标准离线DPO输入是偏好数据、待训练策略与冻结参考模型。两份回答分别计算在prompt条件下的对数概率，通过参考归一化的相对差形成二分类式偏好损失。训练时不必每一步生成新回答，但偏好数据本身的采集与生成有成本。</a:t>
            </a:r>
          </a:p>
          <a:p/>
          <a:p>
            <a:r>
              <a:t>用户资料对应章节：15.1–15.2</a:t>
            </a:r>
          </a:p>
          <a:p/>
          <a:p>
            <a:r>
              <a:t>本步产出：偏向优选回答的策略模型</a:t>
            </a:r>
          </a:p>
          <a:p>
            <a:r>
              <a:t>下一步：展开回答概率、参考比较和 DPO Loss</a:t>
            </a:r>
          </a:p>
          <a:p/>
          <a:p>
            <a:r>
              <a:t>参考资料</a:t>
            </a:r>
          </a:p>
          <a:p>
            <a:r>
              <a:t>[1] https://arxiv.org/abs/2305.18290</a:t>
            </a:r>
          </a:p>
          <a:p>
            <a:r>
              <a:t>[2] https://huggingface.co/docs/trl/dpo_trainer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47 页：DPO 更新：提高优选回答的相对倾向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Δ=[logπθ(y+|x)−logπref(y+|x)]−[logπθ(y−|x)−logπref(y−|x)]。σ为sigmoid，β为缩放参数。回答概率常按回答token的条件对数概率求和，长度归一化与否会改变目标，按具体算法定义执行。与PPO的在线采样、显式奖励和价值估计相比，标准DPO直接复用离线偏好数据。</a:t>
            </a:r>
          </a:p>
          <a:p/>
          <a:p>
            <a:r>
              <a:t>用户资料对应章节：15.1–15.3</a:t>
            </a:r>
          </a:p>
          <a:p/>
          <a:p>
            <a:r>
              <a:t>本步产出：依据偏好对更新后的策略权重或 Adapter</a:t>
            </a:r>
          </a:p>
          <a:p>
            <a:r>
              <a:t>下一步：简要定位基于组内相对奖励的 GRPO</a:t>
            </a:r>
          </a:p>
          <a:p/>
          <a:p>
            <a:r>
              <a:t>参考资料</a:t>
            </a:r>
          </a:p>
          <a:p>
            <a:r>
              <a:t>[1] https://arxiv.org/abs/2305.18290</a:t>
            </a:r>
          </a:p>
          <a:p>
            <a:r>
              <a:t>[2] https://huggingface.co/docs/trl/dpo_trainer</a:t>
            </a:r>
          </a:p>
          <a:p/>
          <a:p>
            <a:r>
              <a:t>网页插图来源</a:t>
            </a:r>
          </a:p>
          <a:p>
            <a:r>
              <a:t>https://arxiv.org/html/2305.18290v3/figures/diagrams/teaser.png</a:t>
            </a:r>
          </a:p>
          <a:p>
            <a:r>
              <a:t>等比例嵌入来源图，源图内文字保留。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48 页：GRPO 定位：一组回答形成相对奖励信号</a:t>
            </a:r>
          </a:p>
          <a:p>
            <a:r>
              <a:t>所在阶段：偏好对齐</a:t>
            </a:r>
          </a:p>
          <a:p/>
          <a:p>
            <a:r>
              <a:t>讲解</a:t>
            </a:r>
          </a:p>
          <a:p>
            <a:r>
              <a:t>具体GRPO实现可能对奖励归一化、长度处理与KL采用不同变体。可验证奖励适用于答案或测试可检查的任务，但奖励质量与可投机性仍需评估。GRPO不作为本报告必经阶段，也不展开强化学习推导。</a:t>
            </a:r>
          </a:p>
          <a:p/>
          <a:p>
            <a:r>
              <a:t>用户资料对应章节：15.3</a:t>
            </a:r>
          </a:p>
          <a:p/>
          <a:p>
            <a:r>
              <a:t>本步产出：对 GRPO 训练位置和数据流的理解</a:t>
            </a:r>
          </a:p>
          <a:p>
            <a:r>
              <a:t>下一步：统一进行最终模型评估</a:t>
            </a:r>
          </a:p>
          <a:p/>
          <a:p>
            <a:r>
              <a:t>参考资料</a:t>
            </a:r>
          </a:p>
          <a:p>
            <a:r>
              <a:t>[1] https://huggingface.co/docs/trl/grpo_trainer</a:t>
            </a:r>
          </a:p>
          <a:p>
            <a:r>
              <a:t>[2] https://arxiv.org/abs/2402.03300</a:t>
            </a:r>
          </a:p>
          <a:p/>
          <a:p>
            <a:r>
              <a:t>网页插图来源</a:t>
            </a:r>
          </a:p>
          <a:p>
            <a:r>
              <a:t>https://huggingface.co/datasets/trl-lib/documentation-images/resolve/main/grpo_visual.png</a:t>
            </a:r>
          </a:p>
          <a:p>
            <a:r>
              <a:t>等比例嵌入来源图，源图内文字保留。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49 页：最终评估：统一比较训练前后的模型</a:t>
            </a:r>
          </a:p>
          <a:p>
            <a:r>
              <a:t>所在阶段：评估与保存</a:t>
            </a:r>
          </a:p>
          <a:p/>
          <a:p>
            <a:r>
              <a:t>讲解</a:t>
            </a:r>
          </a:p>
          <a:p>
            <a:r>
              <a:t>自动指标与人工评估互补。用户偏好可以用成对盲测，注意顺序、长度和评审偏差。pass@k应说明生成与测试协议。推理性能可记录首token延迟、token/s和成本，本页仅列为验收维度，不展开部署。比较模型应使用同一任务输入，但各模型模板需与自身训练约定一致。不能编造性能提升数字。</a:t>
            </a:r>
          </a:p>
          <a:p/>
          <a:p>
            <a:r>
              <a:t>用户资料对应章节：16.1–16.2</a:t>
            </a:r>
          </a:p>
          <a:p/>
          <a:p>
            <a:r>
              <a:t>本步产出：可复查的评估报告与通过 / 未通过结论</a:t>
            </a:r>
          </a:p>
          <a:p>
            <a:r>
              <a:t>下一步：把失败表现映射回对应训练环节</a:t>
            </a:r>
          </a:p>
          <a:p/>
          <a:p>
            <a:r>
              <a:t>参考资料</a:t>
            </a:r>
          </a:p>
          <a:p>
            <a:r>
              <a:t>[1] https://github.com/EleutherAI/lm-evaluation-harness</a:t>
            </a:r>
          </a:p>
          <a:p>
            <a:r>
              <a:t>[2] https://github.com/rasbt/LLMs-from-scratch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50 页：问题归因：失败表现对应训练的哪一步</a:t>
            </a:r>
          </a:p>
          <a:p>
            <a:r>
              <a:t>所在阶段：评估与保存</a:t>
            </a:r>
          </a:p>
          <a:p/>
          <a:p>
            <a:r>
              <a:t>讲解</a:t>
            </a:r>
          </a:p>
          <a:p>
            <a:r>
              <a:t>保留资料中全部非分布式问题：OOM、Loss不下降、NaN、训练Loss下降但验证变差、重复用户问题、不停止、乱码、通用能力退化及只背答案。不包含多GPU效率问题和小数据过拟合操作实验。症状可能有多个原因，表中给出常见对应关系而非唯一诊断。</a:t>
            </a:r>
          </a:p>
          <a:p/>
          <a:p>
            <a:r>
              <a:t>用户资料对应章节：18</a:t>
            </a:r>
          </a:p>
          <a:p/>
          <a:p>
            <a:r>
              <a:t>本步产出：有依据的问题定位与后续调整方向</a:t>
            </a:r>
          </a:p>
          <a:p>
            <a:r>
              <a:t>下一步：保存通过验收的版本及相关文件</a:t>
            </a:r>
          </a:p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https://huggingface.co/docs/trl/sft_trainer</a:t>
            </a:r>
          </a:p>
          <a:p>
            <a:r>
              <a:t>[3] https://docs.pytorch.org/tutorials/recipes/recipes/amp_recipe.html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51 页：保存产物：模型、编码规则与评估记录一起交付</a:t>
            </a:r>
          </a:p>
          <a:p>
            <a:r>
              <a:t>所在阶段：评估与保存</a:t>
            </a:r>
          </a:p>
          <a:p/>
          <a:p>
            <a:r>
              <a:t>讲解</a:t>
            </a:r>
          </a:p>
          <a:p>
            <a:r>
              <a:t>完整模型保存权重、config和匹配Tokenizer。LoRA通常保存Adapter及其配置，另记录精确基座版本；如果合并，还需验证合并后的结果。Chat Template、特殊标记和上下文配置也属于模型行为约定。若需继续训练，额外保存优化器、调度器和数据进度等完整检查点。最终评估记录应保留样本、协议、输出和失败案例。</a:t>
            </a:r>
          </a:p>
          <a:p/>
          <a:p>
            <a:r>
              <a:t>用户资料对应章节：9.4、13、20</a:t>
            </a:r>
          </a:p>
          <a:p/>
          <a:p>
            <a:r>
              <a:t>本步产出：可重新加载、可追踪来源且附有评估证据的模型版本</a:t>
            </a:r>
          </a:p>
          <a:p>
            <a:r>
              <a:t>下一步：回到复盘全部训练流程</a:t>
            </a:r>
          </a:p>
          <a:p/>
          <a:p>
            <a:r>
              <a:t>参考资料</a:t>
            </a:r>
          </a:p>
          <a:p>
            <a:r>
              <a:t>[1] https://docs.pytorch.org/tutorials/recipes/recipes/saving_and_loading_a_general_checkpoint.html</a:t>
            </a:r>
          </a:p>
          <a:p>
            <a:r>
              <a:t>[2] https://huggingface.co/docs/peft/developer_guides/lora</a:t>
            </a:r>
          </a:p>
          <a:p>
            <a:r>
              <a:t>[3] https://huggingface.co/docs/transformers/chat_templating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52 页：完整训练流程复盘：每一阶段交付什么</a:t>
            </a:r>
          </a:p>
          <a:p>
            <a:r>
              <a:t>所在阶段：评估与保存</a:t>
            </a:r>
          </a:p>
          <a:p/>
          <a:p>
            <a:r>
              <a:t>讲解</a:t>
            </a:r>
          </a:p>
          <a:p>
            <a:r>
              <a:t>总结：数据决定模型接触的分布；Tokenizer编码离散符号；Embedding与Transformer形成可学习计算；Loss提供误差信号；反向传播产生梯度，优化器更新参数。CPT、SFT、偏好对齐复用这套机制，但初始权重、数据、监督位置或目标不同。全参、LoRA与QLoRA定义不同更新范围与存储方式。最终用独立评估验收并保存匹配文件。</a:t>
            </a:r>
          </a:p>
          <a:p/>
          <a:p>
            <a:r>
              <a:t>用户资料对应章节：20</a:t>
            </a:r>
          </a:p>
          <a:p/>
          <a:p>
            <a:r>
              <a:t>本步产出：最终模型、配套编码规则和可追踪评估记录</a:t>
            </a:r>
          </a:p>
          <a:p/>
          <a:p/>
          <a:p>
            <a:r>
              <a:t>参考资料</a:t>
            </a:r>
          </a:p>
          <a:p>
            <a:r>
              <a:t>[1] https://github.com/rasbt/LLMs-from-scratch</a:t>
            </a:r>
          </a:p>
          <a:p>
            <a:r>
              <a:t>[2] https://huggingface.co/docs/trl/sft_trainer</a:t>
            </a:r>
          </a:p>
          <a:p>
            <a:r>
              <a:t>[3] https://arxiv.org/abs/2305.18290</a:t>
            </a:r>
          </a:p>
          <a:p>
            <a:r>
              <a:t>[4] https://docs.pytorch.org/tutorials/recipes/recipes/saving_and_loading_a_general_checkpoint.html</a:t>
            </a:r>
          </a:p>
          <a:p/>
          <a:p>
            <a:r>
              <a:t>流程与结构示意据本页资料整理为可编辑图。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感谢聆听 欢迎讨论</a:t>
            </a:r>
          </a:p>
          <a:p/>
          <a:p>
            <a:r>
              <a:t>总结：数据决定训练信号，目标和 Mask 决定参数如何学习，分布式与优化决定工程效率，独立评估决定是否真正改善。完整成果应包括能够解释、修改、复现和评估的训练系统。详细外部来源与图片出处已附在各页备注。</a:t>
            </a:r>
          </a:p>
          <a:p/>
          <a:p>
            <a:r>
              <a:t>资料与引用</a:t>
            </a:r>
          </a:p>
          <a:p>
            <a:r>
              <a:t>用户提供资料：大模型预训练与微调完整流程.txt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王晓雨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1.png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13" name="s1-text-2"/>
          <p:cNvSpPr>
            <a:spLocks noGrp="1"/>
          </p:cNvSpPr>
          <p:nvPr/>
        </p:nvSpPr>
        <p:spPr>
          <a:xfrm>
            <a:off x="666750" y="70485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第二次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-title-3"/>
          <p:cNvSpPr>
            <a:spLocks noGrp="1"/>
          </p:cNvSpPr>
          <p:nvPr/>
        </p:nvSpPr>
        <p:spPr>
          <a:xfrm>
            <a:off x="666750" y="1809750"/>
            <a:ext cx="762000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大模型预训练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-text-4"/>
          <p:cNvSpPr>
            <a:spLocks noGrp="1"/>
          </p:cNvSpPr>
          <p:nvPr/>
        </p:nvSpPr>
        <p:spPr>
          <a:xfrm>
            <a:off x="666750" y="2686050"/>
            <a:ext cx="74295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训练的完整流程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-text-5"/>
          <p:cNvSpPr>
            <a:spLocks noGrp="1"/>
          </p:cNvSpPr>
          <p:nvPr/>
        </p:nvSpPr>
        <p:spPr>
          <a:xfrm>
            <a:off x="695325" y="3724275"/>
            <a:ext cx="7048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Pretraining and Fine-tuning of Large Language Models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s1-text-6"/>
          <p:cNvSpPr>
            <a:spLocks noGrp="1"/>
          </p:cNvSpPr>
          <p:nvPr/>
        </p:nvSpPr>
        <p:spPr>
          <a:xfrm>
            <a:off x="695325" y="45720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数据准备、预训练、监督微调与偏好对齐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-text-7"/>
          <p:cNvSpPr>
            <a:spLocks noGrp="1"/>
          </p:cNvSpPr>
          <p:nvPr/>
        </p:nvSpPr>
        <p:spPr>
          <a:xfrm>
            <a:off x="695325" y="5257800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研究方法与训练实践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0095" y="1301750"/>
            <a:ext cx="4628515" cy="495554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6750" y="5876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汇报人：王晓雨</a:t>
            </a:r>
            <a:endParaRPr lang="zh-CN" altLang="en-US"/>
          </a:p>
        </p:txBody>
      </p:sp>
      <p:pic>
        <p:nvPicPr>
          <p:cNvPr id="21" name="图片 20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矩形 68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70" name="s2-text-1"/>
          <p:cNvSpPr>
            <a:spLocks noGrp="1"/>
          </p:cNvSpPr>
          <p:nvPr/>
        </p:nvSpPr>
        <p:spPr>
          <a:xfrm>
            <a:off x="609600" y="323850"/>
            <a:ext cx="8858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科研组会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s2-title-2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目录与学习路径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s2-text-3"/>
          <p:cNvSpPr>
            <a:spLocks noGrp="1"/>
          </p:cNvSpPr>
          <p:nvPr/>
        </p:nvSpPr>
        <p:spPr>
          <a:xfrm>
            <a:off x="609600" y="14097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先理解训练范式的演进，再逐步拆解一次可复现的训练实验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09600" y="6000750"/>
            <a:ext cx="10972800" cy="419100"/>
          </a:xfrm>
          <a:prstGeom prst="rect">
            <a:avLst/>
          </a:prstGeom>
          <a:solidFill>
            <a:srgbClr val="EAF3FD"/>
          </a:solidFill>
          <a:ln w="0">
            <a:noFill/>
          </a:ln>
        </p:spPr>
      </p:sp>
      <p:sp>
        <p:nvSpPr>
          <p:cNvPr id="74" name="s2-takeaway-5"/>
          <p:cNvSpPr>
            <a:spLocks noGrp="1"/>
          </p:cNvSpPr>
          <p:nvPr/>
        </p:nvSpPr>
        <p:spPr>
          <a:xfrm>
            <a:off x="762000" y="6096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主线：原始文本、训练样本、基础模型、任务模型、可复现交付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s2-text-8"/>
          <p:cNvSpPr>
            <a:spLocks noGrp="1"/>
          </p:cNvSpPr>
          <p:nvPr/>
        </p:nvSpPr>
        <p:spPr>
          <a:xfrm>
            <a:off x="628650" y="2038350"/>
            <a:ext cx="6477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s2-text-9"/>
          <p:cNvSpPr>
            <a:spLocks noGrp="1"/>
          </p:cNvSpPr>
          <p:nvPr/>
        </p:nvSpPr>
        <p:spPr>
          <a:xfrm>
            <a:off x="1485900" y="2019300"/>
            <a:ext cx="31718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发展历史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s2-text-10"/>
          <p:cNvSpPr>
            <a:spLocks noGrp="1"/>
          </p:cNvSpPr>
          <p:nvPr/>
        </p:nvSpPr>
        <p:spPr>
          <a:xfrm>
            <a:off x="4667250" y="20383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2013—2025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的五个阶段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2-text-11"/>
          <p:cNvSpPr>
            <a:spLocks noGrp="1"/>
          </p:cNvSpPr>
          <p:nvPr/>
        </p:nvSpPr>
        <p:spPr>
          <a:xfrm>
            <a:off x="10382250" y="2038350"/>
            <a:ext cx="11715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03—07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485900" y="2524125"/>
            <a:ext cx="10077450" cy="9525"/>
          </a:xfrm>
          <a:prstGeom prst="rect">
            <a:avLst/>
          </a:prstGeom>
          <a:solidFill>
            <a:srgbClr val="CBDCED"/>
          </a:solidFill>
          <a:ln w="0">
            <a:noFill/>
          </a:ln>
        </p:spPr>
      </p:sp>
      <p:sp>
        <p:nvSpPr>
          <p:cNvPr id="81" name="s2-text-13"/>
          <p:cNvSpPr>
            <a:spLocks noGrp="1"/>
          </p:cNvSpPr>
          <p:nvPr/>
        </p:nvSpPr>
        <p:spPr>
          <a:xfrm>
            <a:off x="628650" y="2790825"/>
            <a:ext cx="6477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s2-text-14"/>
          <p:cNvSpPr>
            <a:spLocks noGrp="1"/>
          </p:cNvSpPr>
          <p:nvPr/>
        </p:nvSpPr>
        <p:spPr>
          <a:xfrm>
            <a:off x="1485900" y="2771775"/>
            <a:ext cx="31718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准备与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s2-text-15"/>
          <p:cNvSpPr>
            <a:spLocks noGrp="1"/>
          </p:cNvSpPr>
          <p:nvPr/>
        </p:nvSpPr>
        <p:spPr>
          <a:xfrm>
            <a:off x="4667250" y="279082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语料、清洗、分词、样本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s2-text-16"/>
          <p:cNvSpPr>
            <a:spLocks noGrp="1"/>
          </p:cNvSpPr>
          <p:nvPr/>
        </p:nvSpPr>
        <p:spPr>
          <a:xfrm>
            <a:off x="10382250" y="2790825"/>
            <a:ext cx="11715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08—17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485900" y="3276600"/>
            <a:ext cx="10077450" cy="9525"/>
          </a:xfrm>
          <a:prstGeom prst="rect">
            <a:avLst/>
          </a:prstGeom>
          <a:solidFill>
            <a:srgbClr val="CBDCED"/>
          </a:solidFill>
          <a:ln w="0">
            <a:noFill/>
          </a:ln>
        </p:spPr>
      </p:sp>
      <p:sp>
        <p:nvSpPr>
          <p:cNvPr id="86" name="s2-text-18"/>
          <p:cNvSpPr>
            <a:spLocks noGrp="1"/>
          </p:cNvSpPr>
          <p:nvPr/>
        </p:nvSpPr>
        <p:spPr>
          <a:xfrm>
            <a:off x="628650" y="3543300"/>
            <a:ext cx="6477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s2-text-19"/>
          <p:cNvSpPr>
            <a:spLocks noGrp="1"/>
          </p:cNvSpPr>
          <p:nvPr/>
        </p:nvSpPr>
        <p:spPr>
          <a:xfrm>
            <a:off x="1485900" y="3524250"/>
            <a:ext cx="31718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s2-text-20"/>
          <p:cNvSpPr>
            <a:spLocks noGrp="1"/>
          </p:cNvSpPr>
          <p:nvPr/>
        </p:nvSpPr>
        <p:spPr>
          <a:xfrm>
            <a:off x="4667250" y="354330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架构、目标函数、优化、运行与评估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s2-text-21"/>
          <p:cNvSpPr>
            <a:spLocks noGrp="1"/>
          </p:cNvSpPr>
          <p:nvPr/>
        </p:nvSpPr>
        <p:spPr>
          <a:xfrm>
            <a:off x="10382250" y="3543300"/>
            <a:ext cx="11715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18—28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485900" y="4029075"/>
            <a:ext cx="10077450" cy="9525"/>
          </a:xfrm>
          <a:prstGeom prst="rect">
            <a:avLst/>
          </a:prstGeom>
          <a:solidFill>
            <a:srgbClr val="CBDCED"/>
          </a:solidFill>
          <a:ln w="0">
            <a:noFill/>
          </a:ln>
        </p:spPr>
      </p:sp>
      <p:sp>
        <p:nvSpPr>
          <p:cNvPr id="91" name="s2-text-23"/>
          <p:cNvSpPr>
            <a:spLocks noGrp="1"/>
          </p:cNvSpPr>
          <p:nvPr/>
        </p:nvSpPr>
        <p:spPr>
          <a:xfrm>
            <a:off x="628650" y="4295775"/>
            <a:ext cx="6477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2" name="s2-text-24"/>
          <p:cNvSpPr>
            <a:spLocks noGrp="1"/>
          </p:cNvSpPr>
          <p:nvPr/>
        </p:nvSpPr>
        <p:spPr>
          <a:xfrm>
            <a:off x="1485900" y="4276725"/>
            <a:ext cx="31718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微调与偏好对齐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、评估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s2-text-25"/>
          <p:cNvSpPr>
            <a:spLocks noGrp="1"/>
          </p:cNvSpPr>
          <p:nvPr/>
        </p:nvSpPr>
        <p:spPr>
          <a:xfrm>
            <a:off x="4667250" y="429577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继续预训练、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LoRA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QLoRA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s2-text-26"/>
          <p:cNvSpPr>
            <a:spLocks noGrp="1"/>
          </p:cNvSpPr>
          <p:nvPr/>
        </p:nvSpPr>
        <p:spPr>
          <a:xfrm>
            <a:off x="10382250" y="4295775"/>
            <a:ext cx="11715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29—</a:t>
            </a:r>
            <a:r>
              <a:rPr lang="en-US"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52</a:t>
            </a:r>
            <a:endParaRPr lang="en-US"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485900" y="4781550"/>
            <a:ext cx="10077450" cy="9525"/>
          </a:xfrm>
          <a:prstGeom prst="rect">
            <a:avLst/>
          </a:prstGeom>
          <a:solidFill>
            <a:srgbClr val="CBDCED"/>
          </a:solidFill>
          <a:ln w="0">
            <a:noFill/>
          </a:ln>
        </p:spPr>
      </p:sp>
      <p:sp>
        <p:nvSpPr>
          <p:cNvPr id="96" name="s2-text-28"/>
          <p:cNvSpPr>
            <a:spLocks noGrp="1"/>
          </p:cNvSpPr>
          <p:nvPr/>
        </p:nvSpPr>
        <p:spPr>
          <a:xfrm>
            <a:off x="628650" y="5048250"/>
            <a:ext cx="6477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s2-text-29"/>
          <p:cNvSpPr>
            <a:spLocks noGrp="1"/>
          </p:cNvSpPr>
          <p:nvPr/>
        </p:nvSpPr>
        <p:spPr>
          <a:xfrm>
            <a:off x="1485900" y="5029200"/>
            <a:ext cx="31718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Minimind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s2-text-30"/>
          <p:cNvSpPr>
            <a:spLocks noGrp="1"/>
          </p:cNvSpPr>
          <p:nvPr/>
        </p:nvSpPr>
        <p:spPr>
          <a:xfrm>
            <a:off x="4667250" y="50482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个人电脑手搓</a:t>
            </a:r>
            <a:r>
              <a:rPr lang="en-US" alt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，实战训练与微调全流程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485900" y="5534025"/>
            <a:ext cx="10077450" cy="9525"/>
          </a:xfrm>
          <a:prstGeom prst="rect">
            <a:avLst/>
          </a:prstGeom>
          <a:solidFill>
            <a:srgbClr val="CBDCED"/>
          </a:solidFill>
          <a:ln w="0">
            <a:noFill/>
          </a:ln>
        </p:spPr>
      </p:sp>
      <p:pic>
        <p:nvPicPr>
          <p:cNvPr id="101" name="图片 10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3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-text-2"/>
          <p:cNvSpPr>
            <a:spLocks noGrp="1"/>
          </p:cNvSpPr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发展历史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1 / 5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3-title-3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2013—2016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：词向量与序列建模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-text-4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训练先学习可迁移的表示，再服务于具体任务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-text-5"/>
          <p:cNvSpPr>
            <a:spLocks noGrp="1"/>
          </p:cNvSpPr>
          <p:nvPr/>
        </p:nvSpPr>
        <p:spPr>
          <a:xfrm>
            <a:off x="533400" y="1990725"/>
            <a:ext cx="5048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2013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word2vec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3-text-6"/>
          <p:cNvSpPr>
            <a:spLocks noGrp="1"/>
          </p:cNvSpPr>
          <p:nvPr/>
        </p:nvSpPr>
        <p:spPr>
          <a:xfrm>
            <a:off x="533400" y="2314575"/>
            <a:ext cx="504825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CBOW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Skip-gram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通过上下文预测学习稠密词向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量，降低人工特征设计的依赖。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3-text-7"/>
          <p:cNvSpPr>
            <a:spLocks noGrp="1"/>
          </p:cNvSpPr>
          <p:nvPr/>
        </p:nvSpPr>
        <p:spPr>
          <a:xfrm>
            <a:off x="533400" y="3021330"/>
            <a:ext cx="5048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2014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Seq2Seq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3-text-8"/>
          <p:cNvSpPr>
            <a:spLocks noGrp="1"/>
          </p:cNvSpPr>
          <p:nvPr/>
        </p:nvSpPr>
        <p:spPr>
          <a:xfrm>
            <a:off x="533400" y="3345180"/>
            <a:ext cx="504825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编码器与解码器共同学习序列映射，翻译等任务通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常依靠成对标注数据。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-text-9"/>
          <p:cNvSpPr>
            <a:spLocks noGrp="1"/>
          </p:cNvSpPr>
          <p:nvPr/>
        </p:nvSpPr>
        <p:spPr>
          <a:xfrm>
            <a:off x="533400" y="4051935"/>
            <a:ext cx="5048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2014—2015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：注意力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-text-10"/>
          <p:cNvSpPr>
            <a:spLocks noGrp="1"/>
          </p:cNvSpPr>
          <p:nvPr/>
        </p:nvSpPr>
        <p:spPr>
          <a:xfrm>
            <a:off x="533400" y="4375785"/>
            <a:ext cx="504825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模型按解码位置选择相关输入，缓解固定长度向量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承载长序列信息的困难。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-text-11"/>
          <p:cNvSpPr>
            <a:spLocks noGrp="1"/>
          </p:cNvSpPr>
          <p:nvPr/>
        </p:nvSpPr>
        <p:spPr>
          <a:xfrm>
            <a:off x="533400" y="5082540"/>
            <a:ext cx="5048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阶段特征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-text-12"/>
          <p:cNvSpPr>
            <a:spLocks noGrp="1"/>
          </p:cNvSpPr>
          <p:nvPr/>
        </p:nvSpPr>
        <p:spPr>
          <a:xfrm>
            <a:off x="533400" y="5406390"/>
            <a:ext cx="504825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表示迁移逐步普及，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RNN/LSTM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仍需按时间步递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推，长距离关系建模存在困难。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5360" y="1547495"/>
            <a:ext cx="5789295" cy="4129405"/>
          </a:xfrm>
          <a:prstGeom prst="rect">
            <a:avLst/>
          </a:prstGeom>
        </p:spPr>
      </p:pic>
      <p:sp>
        <p:nvSpPr>
          <p:cNvPr id="14" name="3-text-13"/>
          <p:cNvSpPr>
            <a:spLocks noGrp="1"/>
          </p:cNvSpPr>
          <p:nvPr/>
        </p:nvSpPr>
        <p:spPr>
          <a:xfrm>
            <a:off x="6048375" y="6029325"/>
            <a:ext cx="5610225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词嵌入空间示意，二维位置仅用于解释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-text-14"/>
          <p:cNvSpPr>
            <a:spLocks noGrp="1"/>
          </p:cNvSpPr>
          <p:nvPr/>
        </p:nvSpPr>
        <p:spPr>
          <a:xfrm>
            <a:off x="533400" y="6124575"/>
            <a:ext cx="10810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关键变化：文本表示开始从数据中学习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4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18" name="s4-text-1"/>
          <p:cNvSpPr>
            <a:spLocks noGrp="1"/>
          </p:cNvSpPr>
          <p:nvPr/>
        </p:nvSpPr>
        <p:spPr>
          <a:xfrm>
            <a:off x="609600" y="323850"/>
            <a:ext cx="8858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发展历史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02 / 05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s4-title-2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2017—2018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Transformer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与预训练迁移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4-text-3"/>
          <p:cNvSpPr>
            <a:spLocks noGrp="1"/>
          </p:cNvSpPr>
          <p:nvPr/>
        </p:nvSpPr>
        <p:spPr>
          <a:xfrm>
            <a:off x="609600" y="14097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通用语料上的自监督目标成为基础能力来源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00750"/>
            <a:ext cx="10972800" cy="419100"/>
          </a:xfrm>
          <a:prstGeom prst="rect">
            <a:avLst/>
          </a:prstGeom>
          <a:solidFill>
            <a:srgbClr val="EAF3FD"/>
          </a:solidFill>
          <a:ln w="0">
            <a:noFill/>
          </a:ln>
        </p:spPr>
      </p:sp>
      <p:sp>
        <p:nvSpPr>
          <p:cNvPr id="22" name="s4-takeaway-5"/>
          <p:cNvSpPr>
            <a:spLocks noGrp="1"/>
          </p:cNvSpPr>
          <p:nvPr/>
        </p:nvSpPr>
        <p:spPr>
          <a:xfrm>
            <a:off x="762000" y="6096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关键变化：大规模自监督预训练与下游适配形成常用流程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4-text-8"/>
          <p:cNvSpPr>
            <a:spLocks noGrp="1"/>
          </p:cNvSpPr>
          <p:nvPr/>
        </p:nvSpPr>
        <p:spPr>
          <a:xfrm>
            <a:off x="609600" y="197167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2017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Transformer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s4-text-9"/>
          <p:cNvSpPr>
            <a:spLocks noGrp="1"/>
          </p:cNvSpPr>
          <p:nvPr/>
        </p:nvSpPr>
        <p:spPr>
          <a:xfrm>
            <a:off x="609600" y="229552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自注意力建立序列内依赖，训练能够同时处理多个位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置，成为后续模型的基本架构。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4-text-10"/>
          <p:cNvSpPr>
            <a:spLocks noGrp="1"/>
          </p:cNvSpPr>
          <p:nvPr/>
        </p:nvSpPr>
        <p:spPr>
          <a:xfrm>
            <a:off x="609600" y="294703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2018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GPT</a:t>
            </a: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</a:t>
            </a:r>
            <a:endParaRPr lang="en-US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s4-text-11"/>
          <p:cNvSpPr>
            <a:spLocks noGrp="1"/>
          </p:cNvSpPr>
          <p:nvPr/>
        </p:nvSpPr>
        <p:spPr>
          <a:xfrm>
            <a:off x="609600" y="327088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采用解码器结构和自回归目标，先预训练，再用下游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监督数据更新模型。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4-text-12"/>
          <p:cNvSpPr>
            <a:spLocks noGrp="1"/>
          </p:cNvSpPr>
          <p:nvPr/>
        </p:nvSpPr>
        <p:spPr>
          <a:xfrm>
            <a:off x="609600" y="392239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2018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BERT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s4-text-13"/>
          <p:cNvSpPr>
            <a:spLocks noGrp="1"/>
          </p:cNvSpPr>
          <p:nvPr/>
        </p:nvSpPr>
        <p:spPr>
          <a:xfrm>
            <a:off x="609600" y="424624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编码器通过掩码语言建模学习双向表示，原始训练还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包含下一句预测任务。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4-text-14"/>
          <p:cNvSpPr>
            <a:spLocks noGrp="1"/>
          </p:cNvSpPr>
          <p:nvPr/>
        </p:nvSpPr>
        <p:spPr>
          <a:xfrm>
            <a:off x="609600" y="489775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路线开始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分化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4-text-15"/>
          <p:cNvSpPr>
            <a:spLocks noGrp="1"/>
          </p:cNvSpPr>
          <p:nvPr/>
        </p:nvSpPr>
        <p:spPr>
          <a:xfrm>
            <a:off x="609600" y="522160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BERT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偏重表示理解，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偏重条件生成，训练目标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决定了可见上下文与使用方式。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4197" y="1971675"/>
            <a:ext cx="5325256" cy="3467100"/>
          </a:xfrm>
          <a:prstGeom prst="rect">
            <a:avLst/>
          </a:prstGeom>
        </p:spPr>
      </p:pic>
      <p:sp>
        <p:nvSpPr>
          <p:cNvPr id="32" name="s4-text-16"/>
          <p:cNvSpPr>
            <a:spLocks noGrp="1"/>
          </p:cNvSpPr>
          <p:nvPr/>
        </p:nvSpPr>
        <p:spPr>
          <a:xfrm>
            <a:off x="6229350" y="5581650"/>
            <a:ext cx="531495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Transformer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的编码器与解码器堆叠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5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18" name="s5-text-1"/>
          <p:cNvSpPr>
            <a:spLocks noGrp="1"/>
          </p:cNvSpPr>
          <p:nvPr/>
        </p:nvSpPr>
        <p:spPr>
          <a:xfrm>
            <a:off x="609600" y="323850"/>
            <a:ext cx="8858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发展历史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03 / 05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s5-title-2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2019—2020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：规模扩大与上下文学习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5-text-3"/>
          <p:cNvSpPr>
            <a:spLocks noGrp="1"/>
          </p:cNvSpPr>
          <p:nvPr/>
        </p:nvSpPr>
        <p:spPr>
          <a:xfrm>
            <a:off x="609600" y="14097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统一的文本预测目标支持更多任务形式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00750"/>
            <a:ext cx="10972800" cy="419100"/>
          </a:xfrm>
          <a:prstGeom prst="rect">
            <a:avLst/>
          </a:prstGeom>
          <a:solidFill>
            <a:srgbClr val="EAF3FD"/>
          </a:solidFill>
          <a:ln w="0">
            <a:noFill/>
          </a:ln>
        </p:spPr>
      </p:sp>
      <p:sp>
        <p:nvSpPr>
          <p:cNvPr id="22" name="s5-takeaway-5"/>
          <p:cNvSpPr>
            <a:spLocks noGrp="1"/>
          </p:cNvSpPr>
          <p:nvPr/>
        </p:nvSpPr>
        <p:spPr>
          <a:xfrm>
            <a:off x="762000" y="6096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关键变化：提示中的示例可以承担部分任务适配功能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5-text-8"/>
          <p:cNvSpPr>
            <a:spLocks noGrp="1"/>
          </p:cNvSpPr>
          <p:nvPr/>
        </p:nvSpPr>
        <p:spPr>
          <a:xfrm>
            <a:off x="609600" y="197167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2019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GPT-2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s5-text-9"/>
          <p:cNvSpPr>
            <a:spLocks noGrp="1"/>
          </p:cNvSpPr>
          <p:nvPr/>
        </p:nvSpPr>
        <p:spPr>
          <a:xfrm>
            <a:off x="609600" y="229552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最大版本约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1.5B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参数，展示同一语言模型在多项任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务中的零样本迁移能力。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5-text-10"/>
          <p:cNvSpPr>
            <a:spLocks noGrp="1"/>
          </p:cNvSpPr>
          <p:nvPr/>
        </p:nvSpPr>
        <p:spPr>
          <a:xfrm>
            <a:off x="609600" y="294703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2020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GPT-3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s5-text-11"/>
          <p:cNvSpPr>
            <a:spLocks noGrp="1"/>
          </p:cNvSpPr>
          <p:nvPr/>
        </p:nvSpPr>
        <p:spPr>
          <a:xfrm>
            <a:off x="609600" y="327088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最大版本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175B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参数，通过提示中的少量示例完成任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务，上下文学习受到广泛关注。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8895" y="1259205"/>
            <a:ext cx="4373880" cy="4179570"/>
          </a:xfrm>
          <a:prstGeom prst="rect">
            <a:avLst/>
          </a:prstGeom>
        </p:spPr>
      </p:pic>
      <p:sp>
        <p:nvSpPr>
          <p:cNvPr id="28" name="s5-text-16"/>
          <p:cNvSpPr>
            <a:spLocks noGrp="1"/>
          </p:cNvSpPr>
          <p:nvPr/>
        </p:nvSpPr>
        <p:spPr>
          <a:xfrm>
            <a:off x="6229350" y="5581650"/>
            <a:ext cx="531495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自回归生成：将新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追加到上下文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1180" y="403733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2166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2166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olidFill>
                  <a:srgbClr val="C00000"/>
                </a:solidFill>
                <a:sym typeface="+mn-ea"/>
              </a:rPr>
              <a:t>2020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OpenAI</a:t>
            </a:r>
            <a:endParaRPr lang="en-US" altLang="zh-CN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l">
              <a:defRPr sz="1875" b="1">
                <a:solidFill>
                  <a:srgbClr val="2166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875" b="1">
              <a:solidFill>
                <a:srgbClr val="C00000"/>
              </a:solidFill>
              <a:latin typeface="微软雅黑" panose="020B0503020204020204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0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51180" y="4418330"/>
            <a:ext cx="47625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Scaling Laws for Neural Language Models，</a:t>
            </a:r>
            <a:endParaRPr lang="en-US" altLang="zh-CN">
              <a:solidFill>
                <a:srgbClr val="C00000"/>
              </a:solidFill>
              <a:ea typeface="宋体" panose="02010600030101010101" pitchFamily="2" charset="-122"/>
              <a:sym typeface="+mn-ea"/>
            </a:endParaRPr>
          </a:p>
          <a:p>
            <a:pPr algn="l">
              <a:defRPr sz="1725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arXiv:2001.08361</a:t>
            </a:r>
            <a:endParaRPr lang="en-US" altLang="zh-CN" sz="1725" b="0">
              <a:solidFill>
                <a:srgbClr val="C00000"/>
              </a:solidFill>
              <a:latin typeface="微软雅黑" panose="020B0503020204020204" charset="-122"/>
              <a:ea typeface="宋体" panose="0201060003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11450" y="394779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规模定律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07035" y="5156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模型参数、训练数据、计算资源⬆️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07670" y="5435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模型智能⬆️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35280" y="4004945"/>
            <a:ext cx="4968240" cy="1871980"/>
          </a:xfrm>
          <a:prstGeom prst="rect">
            <a:avLst/>
          </a:prstGeom>
          <a:ln w="28575" cmpd="sng">
            <a:solidFill>
              <a:srgbClr val="0070C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 descr="user-provided-logo-bann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6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18" name="s6-text-1"/>
          <p:cNvSpPr>
            <a:spLocks noGrp="1"/>
          </p:cNvSpPr>
          <p:nvPr/>
        </p:nvSpPr>
        <p:spPr>
          <a:xfrm>
            <a:off x="609600" y="323850"/>
            <a:ext cx="8858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发展历史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04 / 05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s6-title-2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2021—2022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：高效适配与人类偏好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6-text-3"/>
          <p:cNvSpPr>
            <a:spLocks noGrp="1"/>
          </p:cNvSpPr>
          <p:nvPr/>
        </p:nvSpPr>
        <p:spPr>
          <a:xfrm>
            <a:off x="609600" y="14097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训练目标开始同时考虑计算效率与用户需求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00750"/>
            <a:ext cx="10972800" cy="419100"/>
          </a:xfrm>
          <a:prstGeom prst="rect">
            <a:avLst/>
          </a:prstGeom>
          <a:solidFill>
            <a:srgbClr val="EAF3FD"/>
          </a:solidFill>
          <a:ln w="0">
            <a:noFill/>
          </a:ln>
        </p:spPr>
      </p:sp>
      <p:sp>
        <p:nvSpPr>
          <p:cNvPr id="22" name="s6-takeaway-5"/>
          <p:cNvSpPr>
            <a:spLocks noGrp="1"/>
          </p:cNvSpPr>
          <p:nvPr/>
        </p:nvSpPr>
        <p:spPr>
          <a:xfrm>
            <a:off x="762000" y="6096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关键变化：基础能力、任务适配与偏好优化分别设计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应用开始出现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6-text-8"/>
          <p:cNvSpPr>
            <a:spLocks noGrp="1"/>
          </p:cNvSpPr>
          <p:nvPr/>
        </p:nvSpPr>
        <p:spPr>
          <a:xfrm>
            <a:off x="609600" y="197167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2021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LoRA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s6-text-9"/>
          <p:cNvSpPr>
            <a:spLocks noGrp="1"/>
          </p:cNvSpPr>
          <p:nvPr/>
        </p:nvSpPr>
        <p:spPr>
          <a:xfrm>
            <a:off x="609600" y="229552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冻结已有权重，仅学习低秩增量，显著减少微调时需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要更新的参数。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6-text-10"/>
          <p:cNvSpPr>
            <a:spLocks noGrp="1"/>
          </p:cNvSpPr>
          <p:nvPr/>
        </p:nvSpPr>
        <p:spPr>
          <a:xfrm>
            <a:off x="609600" y="294703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2022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ChatGPT</a:t>
            </a:r>
            <a:endParaRPr lang="en-US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6" name="s6-text-11"/>
          <p:cNvSpPr>
            <a:spLocks noGrp="1"/>
          </p:cNvSpPr>
          <p:nvPr/>
        </p:nvSpPr>
        <p:spPr>
          <a:xfrm>
            <a:off x="609600" y="327088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转折点，大语言模型开始爆发，国产模型应用陆续登场，</a:t>
            </a:r>
            <a:endParaRPr 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rgbClr val="233B55"/>
                </a:solidFill>
                <a:sym typeface="+mn-ea"/>
              </a:rPr>
              <a:t>文心一言、通义千问</a:t>
            </a:r>
            <a:r>
              <a:rPr lang="zh-CN">
                <a:solidFill>
                  <a:srgbClr val="233B55"/>
                </a:solidFill>
                <a:sym typeface="+mn-ea"/>
              </a:rPr>
              <a:t>等</a:t>
            </a:r>
            <a:endParaRPr lang="zh-CN" b="0">
              <a:solidFill>
                <a:srgbClr val="233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s6-text-12"/>
          <p:cNvSpPr>
            <a:spLocks noGrp="1"/>
          </p:cNvSpPr>
          <p:nvPr/>
        </p:nvSpPr>
        <p:spPr>
          <a:xfrm>
            <a:off x="609600" y="392239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2022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InstructGPT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s6-text-13"/>
          <p:cNvSpPr>
            <a:spLocks noGrp="1"/>
          </p:cNvSpPr>
          <p:nvPr/>
        </p:nvSpPr>
        <p:spPr>
          <a:xfrm>
            <a:off x="609600" y="424624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先监督微调，再学习偏好奖励，最后优化策略，改善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指令遵循与人类偏好表现。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35" y="1495425"/>
            <a:ext cx="4380230" cy="40747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0" y="5085080"/>
            <a:ext cx="2059305" cy="616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8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36" name="8-frame-35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7" name="8-text-37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8-text-38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最终模型权重或适配器、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Tokenizer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、配置与评估记录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8-text-39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接下来：从第一个阶段开始：准备训练数据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slide-title"/>
          <p:cNvSpPr>
            <a:spLocks noGrp="1"/>
          </p:cNvSpPr>
          <p:nvPr/>
        </p:nvSpPr>
        <p:spPr>
          <a:xfrm>
            <a:off x="609600" y="27432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大模型训练的完整生命周期</a:t>
            </a:r>
            <a:endParaRPr sz="31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surface"/>
          <p:cNvSpPr>
            <a:spLocks noGrp="1"/>
          </p:cNvSpPr>
          <p:nvPr/>
        </p:nvSpPr>
        <p:spPr>
          <a:xfrm>
            <a:off x="609600" y="1026795"/>
            <a:ext cx="10972800" cy="14288"/>
          </a:xfrm>
          <a:prstGeom prst="rect">
            <a:avLst/>
          </a:prstGeom>
          <a:solidFill>
            <a:srgbClr val="D9E5F1"/>
          </a:solidFill>
          <a:ln w="0">
            <a:noFill/>
          </a:ln>
        </p:spPr>
      </p:sp>
      <p:graphicFrame>
        <p:nvGraphicFramePr>
          <p:cNvPr id="44" name="表格 43"/>
          <p:cNvGraphicFramePr/>
          <p:nvPr/>
        </p:nvGraphicFramePr>
        <p:xfrm>
          <a:off x="609600" y="1322070"/>
          <a:ext cx="10972800" cy="3848103"/>
        </p:xfrm>
        <a:graphic>
          <a:graphicData uri="http://schemas.openxmlformats.org/drawingml/2006/table">
            <a:tbl>
              <a:tblPr/>
              <a:tblGrid>
                <a:gridCol w="2414016"/>
                <a:gridCol w="5486400"/>
                <a:gridCol w="3072384"/>
              </a:tblGrid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T w="9525">
                      <a:solidFill>
                        <a:srgbClr val="D9E5F1"/>
                      </a:solidFill>
                      <a:prstDash val="solid"/>
                    </a:lnT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123D7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输入与主要动作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T w="9525">
                      <a:solidFill>
                        <a:srgbClr val="D9E5F1"/>
                      </a:solidFill>
                      <a:prstDash val="solid"/>
                    </a:lnT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123D7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产物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T w="9525">
                      <a:solidFill>
                        <a:srgbClr val="D9E5F1"/>
                      </a:solidFill>
                      <a:prstDash val="solid"/>
                    </a:lnT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123D73"/>
                    </a:solidFill>
                  </a:tcPr>
                </a:tc>
              </a:tr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数据准备</a:t>
                      </a:r>
                      <a:endParaRPr sz="1650" b="1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采集、清洗、去重、分词、切分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可追溯训练数据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预训练</a:t>
                      </a:r>
                      <a:endParaRPr sz="1650" b="1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随机初始化 + 大规模下一 Token 预测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Base Model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lang="en-US" altLang="zh-CN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</a:t>
                      </a:r>
                      <a:r>
                        <a:rPr lang="zh-CN" alt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继续预训练</a:t>
                      </a:r>
                      <a:endParaRPr sz="1650" b="1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领域 / 代码 / 长文本语料继续学习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领域基座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lang="en-US" altLang="zh-CN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监督微调</a:t>
                      </a:r>
                      <a:endParaRPr sz="1650" b="1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高质量指令、多轮对话与工具示范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Instruct Model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lang="en-US" altLang="zh-CN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偏好</a:t>
                      </a:r>
                      <a:r>
                        <a:rPr lang="zh-CN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对齐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RL</a:t>
                      </a:r>
                      <a:endParaRPr sz="1650" b="1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成对偏好或在线奖励优化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对齐模型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9729">
                <a:tc>
                  <a:txBody>
                    <a:bodyPr>
                      <a:spAutoFit/>
                    </a:bodyPr>
                    <a:lstStyle/>
                    <a:p>
                      <a:r>
                        <a:rPr lang="en-US" altLang="zh-CN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650" b="1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评估与部署</a:t>
                      </a:r>
                      <a:endParaRPr sz="1650" b="1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L w="9525">
                      <a:solidFill>
                        <a:srgbClr val="D9E5F1"/>
                      </a:solidFill>
                      <a:prstDash val="solid"/>
                    </a:lnL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能力回归、推理优化、服务与反馈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50" b="0">
                          <a:solidFill>
                            <a:srgbClr val="233B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可用模型系统</a:t>
                      </a:r>
                      <a:endParaRPr sz="1650" b="0">
                        <a:solidFill>
                          <a:srgbClr val="233B5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95250" marB="85725" anchor="ctr">
                    <a:lnR w="9525">
                      <a:solidFill>
                        <a:srgbClr val="D9E5F1"/>
                      </a:solidFill>
                      <a:prstDash val="solid"/>
                    </a:lnR>
                    <a:lnB w="9525">
                      <a:solidFill>
                        <a:srgbClr val="D9E5F1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45" name="surface"/>
          <p:cNvSpPr>
            <a:spLocks noGrp="1"/>
          </p:cNvSpPr>
          <p:nvPr/>
        </p:nvSpPr>
        <p:spPr>
          <a:xfrm>
            <a:off x="609600" y="5379720"/>
            <a:ext cx="10972800" cy="457200"/>
          </a:xfrm>
          <a:prstGeom prst="rect">
            <a:avLst/>
          </a:prstGeom>
          <a:solidFill>
            <a:srgbClr val="ECF4FC"/>
          </a:solidFill>
          <a:ln w="0">
            <a:noFill/>
          </a:ln>
        </p:spPr>
      </p:sp>
      <p:sp>
        <p:nvSpPr>
          <p:cNvPr id="46" name="text"/>
          <p:cNvSpPr>
            <a:spLocks noGrp="1"/>
          </p:cNvSpPr>
          <p:nvPr/>
        </p:nvSpPr>
        <p:spPr>
          <a:xfrm>
            <a:off x="781050" y="547497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每个训练阶段都需要独立评估与可恢复的 Checkpoint</a:t>
            </a:r>
            <a:endParaRPr sz="1575" b="1">
              <a:solidFill>
                <a:srgbClr val="123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图片 46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23570" y="2493010"/>
            <a:ext cx="2232025" cy="935990"/>
          </a:xfrm>
          <a:prstGeom prst="rect">
            <a:avLst/>
          </a:prstGeom>
          <a:ln w="28575" cmpd="sng">
            <a:solidFill>
              <a:srgbClr val="C00000"/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7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18" name="s7-text-1"/>
          <p:cNvSpPr>
            <a:spLocks noGrp="1"/>
          </p:cNvSpPr>
          <p:nvPr/>
        </p:nvSpPr>
        <p:spPr>
          <a:xfrm>
            <a:off x="609600" y="323850"/>
            <a:ext cx="8858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发展历史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05 / 05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s7-title-2"/>
          <p:cNvSpPr>
            <a:spLocks noGrp="1"/>
          </p:cNvSpPr>
          <p:nvPr/>
        </p:nvSpPr>
        <p:spPr>
          <a:xfrm>
            <a:off x="609600" y="7429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2023—2025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：开放模型与训练配方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7-text-3"/>
          <p:cNvSpPr>
            <a:spLocks noGrp="1"/>
          </p:cNvSpPr>
          <p:nvPr/>
        </p:nvSpPr>
        <p:spPr>
          <a:xfrm>
            <a:off x="609600" y="14097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5D71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数据质量、低成本适配和后训练方法持续细化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000750"/>
            <a:ext cx="10972800" cy="419100"/>
          </a:xfrm>
          <a:prstGeom prst="rect">
            <a:avLst/>
          </a:prstGeom>
          <a:solidFill>
            <a:srgbClr val="EAF3FD"/>
          </a:solidFill>
          <a:ln w="0">
            <a:noFill/>
          </a:ln>
        </p:spPr>
      </p:sp>
      <p:sp>
        <p:nvSpPr>
          <p:cNvPr id="22" name="s7-takeaway-5"/>
          <p:cNvSpPr>
            <a:spLocks noGrp="1"/>
          </p:cNvSpPr>
          <p:nvPr/>
        </p:nvSpPr>
        <p:spPr>
          <a:xfrm>
            <a:off x="762000" y="60960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关键变化：</a:t>
            </a:r>
            <a:r>
              <a:rPr lang="zh-CN">
                <a:solidFill>
                  <a:srgbClr val="233B55"/>
                </a:solidFill>
                <a:sym typeface="+mn-ea"/>
              </a:rPr>
              <a:t>国产模型崛起，正式开始中美</a:t>
            </a:r>
            <a:r>
              <a:rPr lang="en-US" altLang="zh-CN">
                <a:solidFill>
                  <a:srgbClr val="233B55"/>
                </a:solidFill>
                <a:sym typeface="+mn-ea"/>
              </a:rPr>
              <a:t>AI</a:t>
            </a:r>
            <a:r>
              <a:rPr lang="zh-CN" altLang="en-US">
                <a:solidFill>
                  <a:srgbClr val="233B55"/>
                </a:solidFill>
                <a:sym typeface="+mn-ea"/>
              </a:rPr>
              <a:t>竞争</a:t>
            </a:r>
            <a:endParaRPr lang="zh-CN" altLang="en-US" b="1">
              <a:solidFill>
                <a:srgbClr val="233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s7-text-8"/>
          <p:cNvSpPr>
            <a:spLocks noGrp="1"/>
          </p:cNvSpPr>
          <p:nvPr/>
        </p:nvSpPr>
        <p:spPr>
          <a:xfrm>
            <a:off x="609600" y="197167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2023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QLoRA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s7-text-9"/>
          <p:cNvSpPr>
            <a:spLocks noGrp="1"/>
          </p:cNvSpPr>
          <p:nvPr/>
        </p:nvSpPr>
        <p:spPr>
          <a:xfrm>
            <a:off x="609600" y="229552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QLoRA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结合低比特基础权重和适配器，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使用偏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好对直接优化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7-text-10"/>
          <p:cNvSpPr>
            <a:spLocks noGrp="1"/>
          </p:cNvSpPr>
          <p:nvPr/>
        </p:nvSpPr>
        <p:spPr>
          <a:xfrm>
            <a:off x="609600" y="294703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2024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Sora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4o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7-text-11"/>
          <p:cNvSpPr>
            <a:spLocks noGrp="1"/>
          </p:cNvSpPr>
          <p:nvPr/>
        </p:nvSpPr>
        <p:spPr>
          <a:xfrm>
            <a:off x="609600" y="3270885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文生视频、原生多模态与推理模型陆续上场，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“先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思考再回答”，强化思维链，提升数理能力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7-text-12"/>
          <p:cNvSpPr>
            <a:spLocks noGrp="1"/>
          </p:cNvSpPr>
          <p:nvPr/>
        </p:nvSpPr>
        <p:spPr>
          <a:xfrm>
            <a:off x="609600" y="3922395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2025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7-text-13"/>
          <p:cNvSpPr>
            <a:spLocks noGrp="1"/>
          </p:cNvSpPr>
          <p:nvPr/>
        </p:nvSpPr>
        <p:spPr>
          <a:xfrm>
            <a:off x="609600" y="4246245"/>
            <a:ext cx="5238750" cy="124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65">
                <a:solidFill>
                  <a:srgbClr val="C00000"/>
                </a:solidFill>
                <a:sym typeface="+mn-ea"/>
              </a:rPr>
              <a:t>DeepSeek-R1（2025.01）</a:t>
            </a:r>
            <a:r>
              <a:rPr lang="zh-CN" sz="1765">
                <a:solidFill>
                  <a:srgbClr val="C00000"/>
                </a:solidFill>
                <a:sym typeface="+mn-ea"/>
              </a:rPr>
              <a:t>开源</a:t>
            </a:r>
            <a:r>
              <a:rPr lang="zh-CN" sz="1765">
                <a:solidFill>
                  <a:srgbClr val="233B55"/>
                </a:solidFill>
                <a:sym typeface="+mn-ea"/>
              </a:rPr>
              <a:t>，打折英伟达股价，</a:t>
            </a:r>
            <a:endParaRPr lang="zh-CN" sz="1765">
              <a:solidFill>
                <a:srgbClr val="233B55"/>
              </a:solidFill>
              <a:sym typeface="+mn-ea"/>
            </a:endParaRPr>
          </a:p>
          <a:p>
            <a:pPr algn="l">
              <a:defRPr sz="1800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65">
                <a:solidFill>
                  <a:srgbClr val="233B55"/>
                </a:solidFill>
                <a:sym typeface="+mn-ea"/>
              </a:rPr>
              <a:t>展示强化学习对推理能力的作用。</a:t>
            </a:r>
            <a:endParaRPr sz="1765">
              <a:solidFill>
                <a:srgbClr val="233B55"/>
              </a:solidFill>
              <a:sym typeface="+mn-ea"/>
            </a:endParaRPr>
          </a:p>
          <a:p>
            <a:pPr algn="l">
              <a:defRPr sz="1800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765">
                <a:solidFill>
                  <a:srgbClr val="233B55"/>
                </a:solidFill>
                <a:sym typeface="+mn-ea"/>
              </a:rPr>
              <a:t>Agent</a:t>
            </a:r>
            <a:r>
              <a:rPr lang="zh-CN" altLang="en-US" sz="1765">
                <a:solidFill>
                  <a:srgbClr val="233B55"/>
                </a:solidFill>
                <a:sym typeface="+mn-ea"/>
              </a:rPr>
              <a:t>：</a:t>
            </a:r>
            <a:r>
              <a:rPr lang="zh-CN">
                <a:sym typeface="+mn-ea"/>
              </a:rPr>
              <a:t>模型配备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手脚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，开始执行更多任务，</a:t>
            </a:r>
            <a:endParaRPr lang="zh-CN" altLang="en-US">
              <a:sym typeface="+mn-ea"/>
            </a:endParaRPr>
          </a:p>
          <a:p>
            <a:pPr algn="l">
              <a:defRPr sz="1800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sym typeface="+mn-ea"/>
              </a:rPr>
              <a:t>拓展方向</a:t>
            </a:r>
            <a:endParaRPr lang="zh-CN" altLang="en-US" b="0">
              <a:solidFill>
                <a:srgbClr val="233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233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1340485"/>
            <a:ext cx="5316855" cy="50615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a8f9941-0cfa-4545-8ce6-6fbc51dafa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842" y="17780"/>
            <a:ext cx="10260316" cy="68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10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0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0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0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0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0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0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0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0-title-9"/>
          <p:cNvSpPr>
            <a:spLocks noGrp="1"/>
          </p:cNvSpPr>
          <p:nvPr/>
        </p:nvSpPr>
        <p:spPr>
          <a:xfrm>
            <a:off x="461645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收集语料：确定模型会接触哪些内容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0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通用模型需要多来源文本，数据组成决定能力覆盖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0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0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10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划分与配比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10-text-14"/>
          <p:cNvSpPr>
            <a:spLocks noGrp="1"/>
          </p:cNvSpPr>
          <p:nvPr/>
        </p:nvSpPr>
        <p:spPr>
          <a:xfrm>
            <a:off x="348376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Tokenizer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10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10-text-16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来源与用途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10-text-17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网页和书籍提供语言与知识，代码和数学文本提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供程序与符号模式，多语言语料覆盖不同语言。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10-text-18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10-text-19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网页爬虫、合法购买、蒸馏、用户数据</a:t>
            </a:r>
            <a:r>
              <a:rPr 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、合成数据</a:t>
            </a:r>
            <a:endParaRPr 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等等</a:t>
            </a:r>
            <a:endParaRPr lang="zh-CN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10-text-20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建立数据清单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10-text-21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保存文档标识、语言、来源和版本，后续清洗、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划分与采样都依据这些记录。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10-frame-32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4" name="10-text-34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10-text-35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带来源和许可记录的原始语料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10-text-36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接下来：抽取有效正文并清洗筛选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9" name="表格 38"/>
          <p:cNvGraphicFramePr/>
          <p:nvPr/>
        </p:nvGraphicFramePr>
        <p:xfrm>
          <a:off x="5674995" y="1698625"/>
          <a:ext cx="6348094" cy="4175760"/>
        </p:xfrm>
        <a:graphic>
          <a:graphicData uri="http://schemas.openxmlformats.org/drawingml/2006/table">
            <a:tbl>
              <a:tblPr/>
              <a:tblGrid>
                <a:gridCol w="1356995"/>
                <a:gridCol w="2700654"/>
                <a:gridCol w="2290445"/>
              </a:tblGrid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0"/>
                        <a:t>数据类型</a:t>
                      </a:r>
                      <a:endParaRPr lang="zh-CN" altLang="en-US" sz="1800" b="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/>
                        <a:t>示例</a:t>
                      </a:r>
                      <a:endParaRPr lang="zh-CN" altLang="en-US" sz="1800" b="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 b="0"/>
                        <a:t>主要作用</a:t>
                      </a:r>
                      <a:endParaRPr lang="zh-CN" altLang="en-US" sz="1800" b="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网页文本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公开文章、百科内容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通用知识、语言表达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书籍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合法授权的书籍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长文本理解、叙事和知识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学术资料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论文、技术文档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专业知识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开源代码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许可允许使用的代码仓库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编程能力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数学文本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解题过程、公式推导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数学与符号处理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领域文档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产品手册、行业规范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特定领域能力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l" fontAlgn="t"/>
                      <a:r>
                        <a:rPr lang="zh-CN" altLang="en-US" sz="1800" b="1">
                          <a:solidFill>
                            <a:srgbClr val="C00000"/>
                          </a:solidFill>
                        </a:rPr>
                        <a:t>对话数据</a:t>
                      </a:r>
                      <a:endParaRPr lang="zh-CN" altLang="en-US" sz="1800" b="1">
                        <a:solidFill>
                          <a:srgbClr val="C00000"/>
                        </a:solidFill>
                      </a:endParaRPr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人工编写的多轮问答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800"/>
                        <a:t>主要用于指令微调</a:t>
                      </a:r>
                      <a:endParaRPr lang="zh-CN" altLang="en-US" sz="1800"/>
                    </a:p>
                  </a:txBody>
                  <a:tcPr marL="61277" marR="61277" marT="61277" marB="61277" anchor="t" anchorCtr="0">
                    <a:lnL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7762240" y="788670"/>
            <a:ext cx="4358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在实际的大规模预训练项目中，数据工程可能占据大量研发时间。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6" name="直接箭头连接符 25"/>
          <p:cNvCxnSpPr>
            <a:stCxn id="19" idx="3"/>
            <a:endCxn id="23" idx="1"/>
          </p:cNvCxnSpPr>
          <p:nvPr/>
        </p:nvCxnSpPr>
        <p:spPr>
          <a:xfrm>
            <a:off x="8813007" y="3419475"/>
            <a:ext cx="257174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2" name="直接箭头连接符 21"/>
          <p:cNvCxnSpPr>
            <a:stCxn id="15" idx="3"/>
            <a:endCxn id="19" idx="1"/>
          </p:cNvCxnSpPr>
          <p:nvPr/>
        </p:nvCxnSpPr>
        <p:spPr>
          <a:xfrm>
            <a:off x="5967413" y="341947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2" idx="3"/>
            <a:endCxn id="15" idx="1"/>
          </p:cNvCxnSpPr>
          <p:nvPr/>
        </p:nvCxnSpPr>
        <p:spPr>
          <a:xfrm>
            <a:off x="3121819" y="341947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4" name="9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9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9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9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9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9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9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9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9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9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先形成干净且可追溯的语料，再把文本编码成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ID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9-text-11"/>
          <p:cNvSpPr>
            <a:spLocks noGrp="1"/>
          </p:cNvSpPr>
          <p:nvPr/>
        </p:nvSpPr>
        <p:spPr>
          <a:xfrm>
            <a:off x="533400" y="2057400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阶段输入：原始文档、来源与许可信息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9-process-11"/>
          <p:cNvSpPr>
            <a:spLocks noGrp="1"/>
          </p:cNvSpPr>
          <p:nvPr/>
        </p:nvSpPr>
        <p:spPr>
          <a:xfrm>
            <a:off x="533400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3" name="9-text-13"/>
          <p:cNvSpPr>
            <a:spLocks noGrp="1"/>
          </p:cNvSpPr>
          <p:nvPr/>
        </p:nvSpPr>
        <p:spPr>
          <a:xfrm>
            <a:off x="647700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收集语料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9-text-14"/>
          <p:cNvSpPr>
            <a:spLocks noGrp="1"/>
          </p:cNvSpPr>
          <p:nvPr/>
        </p:nvSpPr>
        <p:spPr>
          <a:xfrm>
            <a:off x="628650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网页、书籍、论文、代码等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9-process-14"/>
          <p:cNvSpPr>
            <a:spLocks noGrp="1"/>
          </p:cNvSpPr>
          <p:nvPr/>
        </p:nvSpPr>
        <p:spPr>
          <a:xfrm>
            <a:off x="3378994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6" name="9-text-16"/>
          <p:cNvSpPr>
            <a:spLocks noGrp="1"/>
          </p:cNvSpPr>
          <p:nvPr/>
        </p:nvSpPr>
        <p:spPr>
          <a:xfrm>
            <a:off x="3493294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清洗筛选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9-text-17"/>
          <p:cNvSpPr>
            <a:spLocks noGrp="1"/>
          </p:cNvSpPr>
          <p:nvPr/>
        </p:nvSpPr>
        <p:spPr>
          <a:xfrm>
            <a:off x="3474244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抽取、去重、质量与隐私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9-process-18"/>
          <p:cNvSpPr>
            <a:spLocks noGrp="1"/>
          </p:cNvSpPr>
          <p:nvPr/>
        </p:nvSpPr>
        <p:spPr>
          <a:xfrm>
            <a:off x="6224588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0" name="9-text-20"/>
          <p:cNvSpPr>
            <a:spLocks noGrp="1"/>
          </p:cNvSpPr>
          <p:nvPr/>
        </p:nvSpPr>
        <p:spPr>
          <a:xfrm>
            <a:off x="6338888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划分与配比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9-text-21"/>
          <p:cNvSpPr>
            <a:spLocks noGrp="1"/>
          </p:cNvSpPr>
          <p:nvPr/>
        </p:nvSpPr>
        <p:spPr>
          <a:xfrm>
            <a:off x="6319838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隔离评估，确定采样比例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9-process-22"/>
          <p:cNvSpPr>
            <a:spLocks noGrp="1"/>
          </p:cNvSpPr>
          <p:nvPr/>
        </p:nvSpPr>
        <p:spPr>
          <a:xfrm>
            <a:off x="9070181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4" name="9-text-24"/>
          <p:cNvSpPr>
            <a:spLocks noGrp="1"/>
          </p:cNvSpPr>
          <p:nvPr/>
        </p:nvSpPr>
        <p:spPr>
          <a:xfrm>
            <a:off x="9184481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</a:rPr>
              <a:t>4</a:t>
            </a:r>
            <a:r>
              <a:rPr lang="zh-CN" altLang="en-US" b="1">
                <a:solidFill>
                  <a:srgbClr val="C00000"/>
                </a:solidFill>
              </a:rPr>
              <a:t>、</a:t>
            </a:r>
            <a:r>
              <a:rPr b="1">
                <a:solidFill>
                  <a:srgbClr val="C00000"/>
                </a:solidFill>
              </a:rPr>
              <a:t>Tokenizer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25" name="9-text-25"/>
          <p:cNvSpPr>
            <a:spLocks noGrp="1"/>
          </p:cNvSpPr>
          <p:nvPr/>
        </p:nvSpPr>
        <p:spPr>
          <a:xfrm>
            <a:off x="9165431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文本编码与特殊标记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9-text-27"/>
          <p:cNvSpPr>
            <a:spLocks noGrp="1"/>
          </p:cNvSpPr>
          <p:nvPr/>
        </p:nvSpPr>
        <p:spPr>
          <a:xfrm>
            <a:off x="533400" y="4667250"/>
            <a:ext cx="111252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编码后的文本还要在预训练开始前组织成序列与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9-text-28"/>
          <p:cNvSpPr>
            <a:spLocks noGrp="1"/>
          </p:cNvSpPr>
          <p:nvPr/>
        </p:nvSpPr>
        <p:spPr>
          <a:xfrm>
            <a:off x="533400" y="5514975"/>
            <a:ext cx="11125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接下来依次展开以上步骤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9-frame-28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0" name="9-text-30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9-text-31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测试数据、采样配方与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9-text-32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接下来：先确定训练语料的来源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11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1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1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1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1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1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1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1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1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清洗与筛选：保留有效训练内容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1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清洗后的文本应尽量保留标题、段落、代码和公式结构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1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1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11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划分与配比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11-text-14"/>
          <p:cNvSpPr>
            <a:spLocks noGrp="1"/>
          </p:cNvSpPr>
          <p:nvPr/>
        </p:nvSpPr>
        <p:spPr>
          <a:xfrm>
            <a:off x="348376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Tokenizer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11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11-text-16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正文抽取与规范化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11-text-17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HTML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PDF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等提取正文，统一编码，处理广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告、菜单、乱码和模板噪声。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11-text-18"/>
          <p:cNvSpPr>
            <a:spLocks noGrp="1"/>
          </p:cNvSpPr>
          <p:nvPr/>
        </p:nvSpPr>
        <p:spPr>
          <a:xfrm>
            <a:off x="533400" y="3454718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精确与近似去重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11-text-19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11-frame-30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2" name="11-text-32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11-text-33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去重、过滤后的有效文本及处理记录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11-text-34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接下来：划分数据集，确定采样比例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671945" y="2335530"/>
            <a:ext cx="4319905" cy="2367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743700" y="2419350"/>
            <a:ext cx="3359150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首页 </a:t>
            </a:r>
            <a:r>
              <a:rPr lang="en-US" altLang="zh-CN" sz="1600"/>
              <a:t>&gt; </a:t>
            </a:r>
            <a:r>
              <a:rPr lang="zh-CN" altLang="en-US" sz="1600"/>
              <a:t>新闻 </a:t>
            </a:r>
            <a:r>
              <a:rPr lang="en-US" altLang="zh-CN" sz="1600"/>
              <a:t>&gt; </a:t>
            </a:r>
            <a:r>
              <a:rPr lang="zh-CN" altLang="en-US" sz="1600"/>
              <a:t>技术
广告：点击领取优惠！
用户登录 </a:t>
            </a:r>
            <a:r>
              <a:rPr lang="en-US" altLang="zh-CN" sz="1600"/>
              <a:t>| </a:t>
            </a:r>
            <a:r>
              <a:rPr lang="zh-CN" altLang="en-US" sz="1600"/>
              <a:t>注册
</a:t>
            </a:r>
            <a:r>
              <a:rPr lang="en-US" altLang="zh-CN" sz="1600"/>
              <a:t>Transformer </a:t>
            </a:r>
            <a:r>
              <a:rPr lang="zh-CN" altLang="en-US" sz="1600"/>
              <a:t>是一种神经网络架构，
它通过注意力机制处理序列信息。
相关阅读 </a:t>
            </a:r>
            <a:r>
              <a:rPr lang="en-US" altLang="zh-CN" sz="1600"/>
              <a:t>| </a:t>
            </a:r>
            <a:r>
              <a:rPr lang="zh-CN" altLang="en-US" sz="1600"/>
              <a:t>网站声明 </a:t>
            </a:r>
            <a:r>
              <a:rPr lang="en-US" altLang="zh-CN" sz="1600"/>
              <a:t>| </a:t>
            </a:r>
            <a:r>
              <a:rPr lang="zh-CN" altLang="en-US" sz="1600"/>
              <a:t>联系我们</a:t>
            </a:r>
            <a:endParaRPr lang="zh-CN" altLang="en-US" sz="1600"/>
          </a:p>
        </p:txBody>
      </p:sp>
      <p:sp>
        <p:nvSpPr>
          <p:cNvPr id="39" name="文本框 38"/>
          <p:cNvSpPr txBox="1"/>
          <p:nvPr/>
        </p:nvSpPr>
        <p:spPr>
          <a:xfrm>
            <a:off x="10246995" y="2707640"/>
            <a:ext cx="393065" cy="1090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原文档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71945" y="5231765"/>
            <a:ext cx="4319905" cy="10039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Transformer </a:t>
            </a:r>
            <a:r>
              <a:rPr lang="zh-CN" altLang="en-US">
                <a:solidFill>
                  <a:schemeClr val="tx1"/>
                </a:solidFill>
              </a:rPr>
              <a:t>是一种神经网络架构，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它通过注意力机制处理序列信息。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33615" y="4927600"/>
            <a:ext cx="3646170" cy="600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而这是模型需要的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图片 4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536180" y="1495425"/>
            <a:ext cx="1756410" cy="431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rgbClr val="FF0000"/>
                </a:solidFill>
                <a:sym typeface="+mn-ea"/>
              </a:rPr>
              <a:t>如何清洗？</a:t>
            </a:r>
            <a:endParaRPr lang="zh-CN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4510" y="383095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raw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爬取 → 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提取正文（只剩 30% 左右）→ 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规则过滤 → 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去重（大量被删掉）→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质量筛选，最后往往只剩原始的 5%~10% 可以进训练</a:t>
            </a:r>
            <a:endParaRPr lang="zh-CN" altLang="en-US" sz="18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639695" y="4410075"/>
            <a:ext cx="2284730" cy="45148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>
                <a:solidFill>
                  <a:srgbClr val="C00000"/>
                </a:solidFill>
              </a:rPr>
              <a:t>C4/Gopher/FineWeb</a:t>
            </a:r>
            <a:r>
              <a:rPr lang="zh-CN" altLang="en-US" sz="1600">
                <a:solidFill>
                  <a:srgbClr val="C00000"/>
                </a:solidFill>
                <a:ea typeface="宋体" panose="02010600030101010101" pitchFamily="2" charset="-122"/>
              </a:rPr>
              <a:t>标准</a:t>
            </a:r>
            <a:endParaRPr lang="zh-CN" altLang="en-US" sz="16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12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2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2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2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2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2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2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2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2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划分与配比：隔离评估，控制训练分布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2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先按文档、来源或主题分组，再形成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2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2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12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划分与配比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12-text-14"/>
          <p:cNvSpPr>
            <a:spLocks noGrp="1"/>
          </p:cNvSpPr>
          <p:nvPr/>
        </p:nvSpPr>
        <p:spPr>
          <a:xfrm>
            <a:off x="348376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Tokenizer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12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5" name="12-text-35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接下来：选择或训练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5857240"/>
            <a:ext cx="10972800" cy="419100"/>
          </a:xfrm>
          <a:prstGeom prst="rect">
            <a:avLst/>
          </a:prstGeom>
          <a:solidFill>
            <a:srgbClr val="EAF3FD"/>
          </a:solidFill>
          <a:ln w="0">
            <a:noFill/>
          </a:ln>
        </p:spPr>
      </p:sp>
      <p:sp>
        <p:nvSpPr>
          <p:cNvPr id="39" name="s13-takeaway-5"/>
          <p:cNvSpPr>
            <a:spLocks noGrp="1"/>
          </p:cNvSpPr>
          <p:nvPr/>
        </p:nvSpPr>
        <p:spPr>
          <a:xfrm>
            <a:off x="762000" y="595249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同源网页、同一文档切片和同一对话应归入同一集合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61695" y="3882390"/>
            <a:ext cx="9964420" cy="164401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Train</a:t>
            </a:r>
            <a:r>
              <a:rPr lang="zh-CN" altLang="en-US" sz="2000" b="1"/>
              <a:t>：</a:t>
            </a:r>
            <a:r>
              <a:rPr lang="zh-CN" altLang="en-US" sz="2000"/>
              <a:t>用于梯度更新。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Validation</a:t>
            </a:r>
            <a:r>
              <a:rPr lang="zh-CN" altLang="en-US" sz="2000" b="1"/>
              <a:t>：</a:t>
            </a:r>
            <a:r>
              <a:rPr lang="zh-CN" altLang="en-US" sz="2000"/>
              <a:t>用于超参数选择、训练监控与早停决策。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Test</a:t>
            </a:r>
            <a:r>
              <a:rPr lang="zh-CN" altLang="en-US" sz="2000" b="1"/>
              <a:t>：</a:t>
            </a:r>
            <a:r>
              <a:rPr lang="zh-CN" altLang="en-US" sz="2000"/>
              <a:t>用于最终独立评估，不应反复用它调参。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/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关键原则：</a:t>
            </a:r>
            <a:r>
              <a:rPr lang="zh-CN" altLang="en-US" sz="2000"/>
              <a:t> 先按</a:t>
            </a:r>
            <a:r>
              <a:rPr lang="zh-CN" altLang="en-US" sz="2000">
                <a:solidFill>
                  <a:srgbClr val="C00000"/>
                </a:solidFill>
              </a:rPr>
              <a:t>文档、来源或其他合理分组</a:t>
            </a:r>
            <a:r>
              <a:rPr lang="zh-CN" altLang="en-US" sz="2000"/>
              <a:t>划分，再切成 </a:t>
            </a:r>
            <a:r>
              <a:rPr lang="en-US" altLang="zh-CN" sz="2000"/>
              <a:t>Token </a:t>
            </a:r>
            <a:r>
              <a:rPr lang="zh-CN" altLang="en-US" sz="2000"/>
              <a:t>片段，避免同一篇文章的前半部分进入训练集、后半部分进入测试集，导致评估结果虚高。</a:t>
            </a:r>
            <a:endParaRPr lang="zh-CN" altLang="en-US" sz="20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85" y="2276475"/>
            <a:ext cx="10478770" cy="1617980"/>
          </a:xfrm>
          <a:prstGeom prst="rect">
            <a:avLst/>
          </a:prstGeom>
        </p:spPr>
      </p:pic>
      <p:pic>
        <p:nvPicPr>
          <p:cNvPr id="42" name="图片 4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13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3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3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3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3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3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3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3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3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Tokenizer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：文本变成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ID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13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先确定词表与特殊标记，再用同一套规则编码语料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3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3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13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划分与配比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13-text-14"/>
          <p:cNvSpPr>
            <a:spLocks noGrp="1"/>
          </p:cNvSpPr>
          <p:nvPr/>
        </p:nvSpPr>
        <p:spPr>
          <a:xfrm>
            <a:off x="348376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Tokenizer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13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4" name="13-frame-22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5" name="13-text-24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13-text-25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词表、特殊标记和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ID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13-text-26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ID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进入模型，首先经过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Embedding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s15-text-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7845" y="2330450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67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选择分词算法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15-text-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7845" y="2654300"/>
            <a:ext cx="5238750" cy="575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常见方案包括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BPE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WordPiece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Unigram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，字节级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035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方案有利于覆盖任意文本。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2" name="表格 31"/>
          <p:cNvGraphicFramePr/>
          <p:nvPr>
            <p:custDataLst>
              <p:tags r:id="rId3"/>
            </p:custDataLst>
          </p:nvPr>
        </p:nvGraphicFramePr>
        <p:xfrm>
          <a:off x="469265" y="3503295"/>
          <a:ext cx="5307330" cy="1914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4077970"/>
              </a:tblGrid>
              <a:tr h="6381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原始文本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人工智能正在改变世界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Tokenizer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["人工", "智能", "正在", "改变", "世界"]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Token ID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[1532, 2876, 592, 1042, 3180]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601345" y="5622290"/>
            <a:ext cx="5033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模型最终接收的是数字序列（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Token ID</a:t>
            </a:r>
            <a:r>
              <a:rPr lang="en-US" altLang="zh-CN" b="1">
                <a:solidFill>
                  <a:srgbClr val="C00000"/>
                </a:solidFill>
              </a:rPr>
              <a:t>s</a:t>
            </a:r>
            <a:r>
              <a:rPr lang="zh-CN" altLang="en-US" b="1">
                <a:solidFill>
                  <a:srgbClr val="C00000"/>
                </a:solidFill>
              </a:rPr>
              <a:t>）</a:t>
            </a:r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630" y="2571750"/>
            <a:ext cx="5741035" cy="287337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7536815" y="1109345"/>
            <a:ext cx="4070985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分词算法？词表？特殊标记？</a:t>
            </a:r>
            <a:endParaRPr lang="zh-CN" altLang="en-US" sz="2400" b="1">
              <a:solidFill>
                <a:srgbClr val="FF0000"/>
              </a:solidFill>
            </a:endParaRPr>
          </a:p>
          <a:p>
            <a:r>
              <a:rPr lang="en-US" altLang="zh-CN" sz="2400" b="1">
                <a:solidFill>
                  <a:srgbClr val="FF0000"/>
                </a:solidFill>
              </a:rPr>
              <a:t>tokenizer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如何训练？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36" name="图片 35" descr="user-provided-logo-bann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552305" y="2314575"/>
            <a:ext cx="1878965" cy="487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C00000"/>
                </a:solidFill>
              </a:rPr>
              <a:t>1</a:t>
            </a:r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</a:rPr>
              <a:t>、分词</a:t>
            </a:r>
            <a:endParaRPr lang="zh-CN" altLang="en-US" sz="2000" b="1">
              <a:solidFill>
                <a:srgbClr val="C00000"/>
              </a:solidFill>
              <a:ea typeface="宋体" panose="02010600030101010101" pitchFamily="2" charset="-122"/>
            </a:endParaRPr>
          </a:p>
          <a:p>
            <a:r>
              <a:rPr lang="en-US" altLang="zh-CN" sz="2000" b="1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</a:rPr>
              <a:t>、转</a:t>
            </a:r>
            <a:r>
              <a:rPr lang="en-US" altLang="zh-CN" sz="2000" b="1">
                <a:solidFill>
                  <a:srgbClr val="C00000"/>
                </a:solidFill>
                <a:ea typeface="宋体" panose="02010600030101010101" pitchFamily="2" charset="-122"/>
              </a:rPr>
              <a:t>id</a:t>
            </a:r>
            <a:endParaRPr lang="en-US" altLang="zh-CN" sz="2000" b="1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14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4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4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4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4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4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4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4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4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模型完整结构：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ID 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怎样得到预测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4-text-10"/>
          <p:cNvSpPr>
            <a:spLocks noGrp="1"/>
          </p:cNvSpPr>
          <p:nvPr/>
        </p:nvSpPr>
        <p:spPr>
          <a:xfrm>
            <a:off x="517525" y="2243455"/>
            <a:ext cx="4732020" cy="2371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确定配置并初始化全模型，然后沿着数据流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逐个解释模块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005" y="838200"/>
            <a:ext cx="6601950" cy="576000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286760"/>
            <a:ext cx="5215255" cy="3256915"/>
          </a:xfrm>
          <a:prstGeom prst="rect">
            <a:avLst/>
          </a:prstGeom>
        </p:spPr>
      </p:pic>
      <p:pic>
        <p:nvPicPr>
          <p:cNvPr id="57" name="图片 56" descr="user-provided-logo-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15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5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5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5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5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5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5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5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5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Embedding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ID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查表得到向量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5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ID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只是编号，向量是后续网络计算的输入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5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5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Embedding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15-text-13"/>
          <p:cNvSpPr>
            <a:spLocks noGrp="1"/>
          </p:cNvSpPr>
          <p:nvPr/>
        </p:nvSpPr>
        <p:spPr>
          <a:xfrm>
            <a:off x="303352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Attention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15-text-14"/>
          <p:cNvSpPr>
            <a:spLocks noGrp="1"/>
          </p:cNvSpPr>
          <p:nvPr/>
        </p:nvSpPr>
        <p:spPr>
          <a:xfrm>
            <a:off x="414766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FFN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与稳定结构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15-text-15"/>
          <p:cNvSpPr>
            <a:spLocks noGrp="1"/>
          </p:cNvSpPr>
          <p:nvPr/>
        </p:nvSpPr>
        <p:spPr>
          <a:xfrm>
            <a:off x="5870258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15-frame-15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1" name="15-text-21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随模型一起学习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15-text-22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从头训练时初始化嵌入，反向传播更新相关参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数。扩展词表时，新增行也需要学习。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2501666"/>
            <a:ext cx="5657850" cy="2921468"/>
          </a:xfrm>
          <a:prstGeom prst="rect">
            <a:avLst/>
          </a:prstGeom>
        </p:spPr>
      </p:pic>
      <p:sp>
        <p:nvSpPr>
          <p:cNvPr id="24" name="15-text-23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ID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取出嵌入矩阵中的对应行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5-frame-2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6" name="15-text-2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15-text-2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的连续向量表示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15-text-2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接下来：向量进入注意力模块，结合上下文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9425" y="2348230"/>
            <a:ext cx="447548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假设：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词表大小：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50,000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隐藏维度：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768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那么词嵌入矩阵形状为：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它会把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Token ID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映射成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768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维向量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40" y="2925445"/>
            <a:ext cx="2440305" cy="91503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967980" y="1306830"/>
            <a:ext cx="2984500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Embedding</a:t>
            </a:r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初始化？</a:t>
            </a:r>
            <a:endParaRPr lang="zh-CN" altLang="en-US" sz="2000" b="1">
              <a:solidFill>
                <a:srgbClr val="C00000"/>
              </a:solidFill>
              <a:ea typeface="宋体" panose="02010600030101010101" pitchFamily="2" charset="-122"/>
              <a:sym typeface="+mn-ea"/>
            </a:endParaRPr>
          </a:p>
          <a:p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向量的实际意义？</a:t>
            </a:r>
            <a:endParaRPr lang="zh-CN" altLang="en-US" sz="2000" b="1">
              <a:solidFill>
                <a:srgbClr val="C00000"/>
              </a:solidFill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4" name="图片 33" descr="user-provided-logo-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16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6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6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6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6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6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6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6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6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1.2 Self-Attention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与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MLP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6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当前位置利用此前信息，多个头形成不同表示子空间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6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6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Embedding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16-text-13"/>
          <p:cNvSpPr>
            <a:spLocks noGrp="1"/>
          </p:cNvSpPr>
          <p:nvPr/>
        </p:nvSpPr>
        <p:spPr>
          <a:xfrm>
            <a:off x="297275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Attention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16-text-14"/>
          <p:cNvSpPr>
            <a:spLocks noGrp="1"/>
          </p:cNvSpPr>
          <p:nvPr/>
        </p:nvSpPr>
        <p:spPr>
          <a:xfrm>
            <a:off x="413718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FFN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与稳定结构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16-text-15"/>
          <p:cNvSpPr>
            <a:spLocks noGrp="1"/>
          </p:cNvSpPr>
          <p:nvPr/>
        </p:nvSpPr>
        <p:spPr>
          <a:xfrm>
            <a:off x="585978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16-frame-15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16-text-17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Q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16-text-18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输入向量经过线性投影，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K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计算相关性，注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意力权重对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V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加权聚合。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16-text-19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限制可见范围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16-text-20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因果掩码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Softmax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前屏蔽未来位置。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RoPE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等位置机制使计算包含顺序信息。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16-text-21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组织多个头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16-text-22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多头结果再组合。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GQA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让多组查询头共享较少的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K/V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头，改变注意力的组织方式。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6-text-24"/>
          <p:cNvSpPr>
            <a:spLocks noGrp="1"/>
          </p:cNvSpPr>
          <p:nvPr/>
        </p:nvSpPr>
        <p:spPr>
          <a:xfrm>
            <a:off x="6000750" y="6046470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多个头的上下文向量拼接成输出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16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16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16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包含可见上下文信息的表示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16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接下来：通过前馈网络继续变换表示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845" y="1457325"/>
            <a:ext cx="4958715" cy="65722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118" y="2402205"/>
            <a:ext cx="5037945" cy="3467100"/>
          </a:xfrm>
          <a:prstGeom prst="rect">
            <a:avLst/>
          </a:prstGeom>
        </p:spPr>
      </p:pic>
      <p:pic>
        <p:nvPicPr>
          <p:cNvPr id="34" name="图片 33" descr="user-provided-logo-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17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7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7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7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7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7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7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7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7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1.3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FFN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、归一化与残差连接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7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Block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中，信息先聚合，再经过逐位置的非线性变换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7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7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Embedding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17-text-13"/>
          <p:cNvSpPr>
            <a:spLocks noGrp="1"/>
          </p:cNvSpPr>
          <p:nvPr/>
        </p:nvSpPr>
        <p:spPr>
          <a:xfrm>
            <a:off x="297275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Attention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17-text-14"/>
          <p:cNvSpPr>
            <a:spLocks noGrp="1"/>
          </p:cNvSpPr>
          <p:nvPr/>
        </p:nvSpPr>
        <p:spPr>
          <a:xfrm>
            <a:off x="408689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FFN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与稳定结构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17-text-15"/>
          <p:cNvSpPr>
            <a:spLocks noGrp="1"/>
          </p:cNvSpPr>
          <p:nvPr/>
        </p:nvSpPr>
        <p:spPr>
          <a:xfrm>
            <a:off x="58293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17-frame-15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17-text-17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前馈网络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FFN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17-text-18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对每个位置进行升维、非线性变换和降维，现代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模型常采用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SwiGLU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等门控结构。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17-text-19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17-text-20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LayerNorm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RMSNorm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调整数值尺度，帮助深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层网络稳定传播。顺序依架构而定。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17-text-21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残差连接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17-text-22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将子层输入与输出相加，保留信息通路。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Block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复多层，逐步形成更高层表示。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17-text-23"/>
          <p:cNvSpPr>
            <a:spLocks noGrp="1"/>
          </p:cNvSpPr>
          <p:nvPr/>
        </p:nvSpPr>
        <p:spPr>
          <a:xfrm>
            <a:off x="6096000" y="619315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前馈网络通过线性层与非线性完成表示变换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7-frame-2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6" name="17-text-2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17-text-2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多层处理后的隐藏状态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[B,T,d]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17-text-2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接下来：通过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LM Head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得到词表分数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7752080" y="1336675"/>
            <a:ext cx="4064000" cy="51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3600">
              <a:solidFill>
                <a:srgbClr val="C00000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r="3182" b="5278"/>
          <a:stretch>
            <a:fillRect/>
          </a:stretch>
        </p:blipFill>
        <p:spPr>
          <a:xfrm>
            <a:off x="6167755" y="2287270"/>
            <a:ext cx="4980305" cy="365442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743700" y="1341120"/>
            <a:ext cx="4064000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083425" y="967740"/>
            <a:ext cx="4316095" cy="47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C00000"/>
                </a:solidFill>
              </a:rPr>
              <a:t>为什么只有</a:t>
            </a:r>
            <a:r>
              <a:rPr lang="en-US" altLang="zh-CN" sz="2000">
                <a:solidFill>
                  <a:srgbClr val="C00000"/>
                </a:solidFill>
              </a:rPr>
              <a:t>decoder</a:t>
            </a:r>
            <a:r>
              <a:rPr lang="zh-CN" altLang="en-US" sz="2000">
                <a:solidFill>
                  <a:srgbClr val="C00000"/>
                </a:solidFill>
                <a:ea typeface="宋体" panose="02010600030101010101" pitchFamily="2" charset="-122"/>
              </a:rPr>
              <a:t>？</a:t>
            </a:r>
            <a:endParaRPr lang="zh-CN" altLang="en-US" sz="20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18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8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8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8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8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8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8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8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8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1.4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LM Head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：隐藏表示</a:t>
            </a: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词表预测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8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输出每个位置对下一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的预测分数，再转为概率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8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18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Embedding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18-text-13"/>
          <p:cNvSpPr>
            <a:spLocks noGrp="1"/>
          </p:cNvSpPr>
          <p:nvPr/>
        </p:nvSpPr>
        <p:spPr>
          <a:xfrm>
            <a:off x="297275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Attention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18-text-14"/>
          <p:cNvSpPr>
            <a:spLocks noGrp="1"/>
          </p:cNvSpPr>
          <p:nvPr/>
        </p:nvSpPr>
        <p:spPr>
          <a:xfrm>
            <a:off x="408689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FFN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与稳定结构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18-text-15"/>
          <p:cNvSpPr>
            <a:spLocks noGrp="1"/>
          </p:cNvSpPr>
          <p:nvPr/>
        </p:nvSpPr>
        <p:spPr>
          <a:xfrm>
            <a:off x="5809488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18-frame-15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18-text-17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输出投影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18-text-18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隐藏状态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[B,T,d]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LM Head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映射为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Logits [B,T,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V]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，每一维对应一个词表项。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18-text-19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从分数到概率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18-text-20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Softmax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将词表分数归一化。训练时用真实目标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的概率计算损失。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18-text-21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参数与初始化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18-text-22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参数来自嵌入、注意力、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FFN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、归一化和输出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层。输出头可与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Embedding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共享权重。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3990" y="2476500"/>
            <a:ext cx="5431370" cy="2971800"/>
          </a:xfrm>
          <a:prstGeom prst="rect">
            <a:avLst/>
          </a:prstGeom>
        </p:spPr>
      </p:pic>
      <p:sp>
        <p:nvSpPr>
          <p:cNvPr id="24" name="18-text-23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Logits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Softmax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8-frame-2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6" name="18-text-2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18-text-2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各位置的下一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分数与概率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18-text-2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接下来：用准备好的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执行预训练循环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7247890" y="907415"/>
            <a:ext cx="44900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C00000"/>
                </a:solidFill>
              </a:rPr>
              <a:t>最后一层线性层，把 Decoder 输出的隐藏状态（hidden state /d_model 维向量）映射成词表大小的 logits，用来预测下一个 token</a:t>
            </a:r>
            <a:endParaRPr lang="zh-CN" altLang="en-US" sz="20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4" name="直接箭头连接符 33"/>
          <p:cNvCxnSpPr>
            <a:stCxn id="26" idx="0"/>
            <a:endCxn id="11" idx="2"/>
          </p:cNvCxnSpPr>
          <p:nvPr/>
        </p:nvCxnSpPr>
        <p:spPr>
          <a:xfrm flipV="1">
            <a:off x="1962150" y="3314700"/>
            <a:ext cx="0" cy="106680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3" name="直接箭头连接符 32"/>
          <p:cNvCxnSpPr>
            <a:stCxn id="23" idx="1"/>
            <a:endCxn id="26" idx="3"/>
          </p:cNvCxnSpPr>
          <p:nvPr/>
        </p:nvCxnSpPr>
        <p:spPr>
          <a:xfrm flipH="1">
            <a:off x="3390900" y="4838700"/>
            <a:ext cx="1276350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2" name="直接箭头连接符 31"/>
          <p:cNvCxnSpPr>
            <a:stCxn id="20" idx="1"/>
            <a:endCxn id="23" idx="3"/>
          </p:cNvCxnSpPr>
          <p:nvPr/>
        </p:nvCxnSpPr>
        <p:spPr>
          <a:xfrm flipH="1">
            <a:off x="7524750" y="4838700"/>
            <a:ext cx="1276350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1" name="直接箭头连接符 30"/>
          <p:cNvCxnSpPr>
            <a:stCxn id="17" idx="2"/>
            <a:endCxn id="20" idx="0"/>
          </p:cNvCxnSpPr>
          <p:nvPr/>
        </p:nvCxnSpPr>
        <p:spPr>
          <a:xfrm>
            <a:off x="10229850" y="3314700"/>
            <a:ext cx="0" cy="106680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0" name="直接箭头连接符 29"/>
          <p:cNvCxnSpPr>
            <a:stCxn id="14" idx="3"/>
            <a:endCxn id="17" idx="1"/>
          </p:cNvCxnSpPr>
          <p:nvPr/>
        </p:nvCxnSpPr>
        <p:spPr>
          <a:xfrm>
            <a:off x="7524750" y="2857500"/>
            <a:ext cx="1276350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9" name="直接箭头连接符 28"/>
          <p:cNvCxnSpPr>
            <a:stCxn id="11" idx="3"/>
            <a:endCxn id="14" idx="1"/>
          </p:cNvCxnSpPr>
          <p:nvPr/>
        </p:nvCxnSpPr>
        <p:spPr>
          <a:xfrm>
            <a:off x="3390900" y="2857500"/>
            <a:ext cx="1276350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42" name="19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19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9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19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19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9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19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19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19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、正式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预训练：一次更新</a:t>
            </a:r>
            <a:r>
              <a:rPr 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不断重复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19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先看完整循环，随后逐步展开每个计算步骤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19-process-10"/>
          <p:cNvSpPr>
            <a:spLocks noGrp="1"/>
          </p:cNvSpPr>
          <p:nvPr/>
        </p:nvSpPr>
        <p:spPr>
          <a:xfrm>
            <a:off x="533400" y="2400300"/>
            <a:ext cx="2857500" cy="9144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2" name="19-text-12"/>
          <p:cNvSpPr>
            <a:spLocks noGrp="1"/>
          </p:cNvSpPr>
          <p:nvPr/>
        </p:nvSpPr>
        <p:spPr>
          <a:xfrm>
            <a:off x="647700" y="253365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19-text-13"/>
          <p:cNvSpPr>
            <a:spLocks noGrp="1"/>
          </p:cNvSpPr>
          <p:nvPr/>
        </p:nvSpPr>
        <p:spPr>
          <a:xfrm>
            <a:off x="628650" y="28289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输入、标签、掩码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19-process-13"/>
          <p:cNvSpPr>
            <a:spLocks noGrp="1"/>
          </p:cNvSpPr>
          <p:nvPr/>
        </p:nvSpPr>
        <p:spPr>
          <a:xfrm>
            <a:off x="4667250" y="2400300"/>
            <a:ext cx="2857500" cy="9144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5" name="19-text-15"/>
          <p:cNvSpPr>
            <a:spLocks noGrp="1"/>
          </p:cNvSpPr>
          <p:nvPr/>
        </p:nvSpPr>
        <p:spPr>
          <a:xfrm>
            <a:off x="4781550" y="253365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前向传播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19-text-16"/>
          <p:cNvSpPr>
            <a:spLocks noGrp="1"/>
          </p:cNvSpPr>
          <p:nvPr/>
        </p:nvSpPr>
        <p:spPr>
          <a:xfrm>
            <a:off x="4762500" y="28289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Embedding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Logits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19-process-16"/>
          <p:cNvSpPr>
            <a:spLocks noGrp="1"/>
          </p:cNvSpPr>
          <p:nvPr/>
        </p:nvSpPr>
        <p:spPr>
          <a:xfrm>
            <a:off x="8801100" y="2400300"/>
            <a:ext cx="2857500" cy="9144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8" name="19-text-18"/>
          <p:cNvSpPr>
            <a:spLocks noGrp="1"/>
          </p:cNvSpPr>
          <p:nvPr/>
        </p:nvSpPr>
        <p:spPr>
          <a:xfrm>
            <a:off x="8915400" y="253365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19-text-19"/>
          <p:cNvSpPr>
            <a:spLocks noGrp="1"/>
          </p:cNvSpPr>
          <p:nvPr/>
        </p:nvSpPr>
        <p:spPr>
          <a:xfrm>
            <a:off x="8896350" y="28289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真实目标的交叉熵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19-process-19"/>
          <p:cNvSpPr>
            <a:spLocks noGrp="1"/>
          </p:cNvSpPr>
          <p:nvPr/>
        </p:nvSpPr>
        <p:spPr>
          <a:xfrm>
            <a:off x="8801100" y="4381500"/>
            <a:ext cx="2857500" cy="9144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1" name="19-text-21"/>
          <p:cNvSpPr>
            <a:spLocks noGrp="1"/>
          </p:cNvSpPr>
          <p:nvPr/>
        </p:nvSpPr>
        <p:spPr>
          <a:xfrm>
            <a:off x="8915400" y="451485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反向传播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19-text-22"/>
          <p:cNvSpPr>
            <a:spLocks noGrp="1"/>
          </p:cNvSpPr>
          <p:nvPr/>
        </p:nvSpPr>
        <p:spPr>
          <a:xfrm>
            <a:off x="8896350" y="48101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计算或累加梯度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19-process-22"/>
          <p:cNvSpPr>
            <a:spLocks noGrp="1"/>
          </p:cNvSpPr>
          <p:nvPr/>
        </p:nvSpPr>
        <p:spPr>
          <a:xfrm>
            <a:off x="4667250" y="4381500"/>
            <a:ext cx="2857500" cy="914400"/>
          </a:xfrm>
          <a:prstGeom prst="rect">
            <a:avLst/>
          </a:prstGeom>
          <a:solidFill>
            <a:srgbClr val="1668B8"/>
          </a:solidFill>
          <a:ln w="9525">
            <a:solidFill>
              <a:srgbClr val="CDDDEB"/>
            </a:solidFill>
          </a:ln>
        </p:spPr>
      </p:sp>
      <p:sp>
        <p:nvSpPr>
          <p:cNvPr id="24" name="19-text-24"/>
          <p:cNvSpPr>
            <a:spLocks noGrp="1"/>
          </p:cNvSpPr>
          <p:nvPr/>
        </p:nvSpPr>
        <p:spPr>
          <a:xfrm>
            <a:off x="4781550" y="451485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9-text-25"/>
          <p:cNvSpPr>
            <a:spLocks noGrp="1"/>
          </p:cNvSpPr>
          <p:nvPr/>
        </p:nvSpPr>
        <p:spPr>
          <a:xfrm>
            <a:off x="4762500" y="48101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AdamW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改变权重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19-process-25"/>
          <p:cNvSpPr>
            <a:spLocks noGrp="1"/>
          </p:cNvSpPr>
          <p:nvPr/>
        </p:nvSpPr>
        <p:spPr>
          <a:xfrm>
            <a:off x="533400" y="4381500"/>
            <a:ext cx="2857500" cy="9144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7" name="19-text-27"/>
          <p:cNvSpPr>
            <a:spLocks noGrp="1"/>
          </p:cNvSpPr>
          <p:nvPr/>
        </p:nvSpPr>
        <p:spPr>
          <a:xfrm>
            <a:off x="647700" y="4514850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下一批数据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19-text-28"/>
          <p:cNvSpPr>
            <a:spLocks noGrp="1"/>
          </p:cNvSpPr>
          <p:nvPr/>
        </p:nvSpPr>
        <p:spPr>
          <a:xfrm>
            <a:off x="628650" y="48101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重复直到预算与验收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19-text-35"/>
          <p:cNvSpPr>
            <a:spLocks noGrp="1"/>
          </p:cNvSpPr>
          <p:nvPr/>
        </p:nvSpPr>
        <p:spPr>
          <a:xfrm>
            <a:off x="3638550" y="367665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周期性验证、监控与保存检查点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19-text-36"/>
          <p:cNvSpPr>
            <a:spLocks noGrp="1"/>
          </p:cNvSpPr>
          <p:nvPr/>
        </p:nvSpPr>
        <p:spPr>
          <a:xfrm>
            <a:off x="3638550" y="4010025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验证数据不参与参数更新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19-frame-36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8" name="19-text-38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19-text-39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经过大量参数更新的基础模型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19-text-40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接下来：从构造输入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42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8256270" y="1419225"/>
            <a:ext cx="3122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何时停止？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20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0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0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0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0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0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0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0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0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：文本怎样成为输入与标签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0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序列组织成模型能同时处理的一批样本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0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0-text-12"/>
          <p:cNvSpPr>
            <a:spLocks noGrp="1"/>
          </p:cNvSpPr>
          <p:nvPr/>
        </p:nvSpPr>
        <p:spPr>
          <a:xfrm>
            <a:off x="142636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0-text-13"/>
          <p:cNvSpPr>
            <a:spLocks noGrp="1"/>
          </p:cNvSpPr>
          <p:nvPr/>
        </p:nvSpPr>
        <p:spPr>
          <a:xfrm>
            <a:off x="222885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0-text-14"/>
          <p:cNvSpPr>
            <a:spLocks noGrp="1"/>
          </p:cNvSpPr>
          <p:nvPr/>
        </p:nvSpPr>
        <p:spPr>
          <a:xfrm>
            <a:off x="301123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0-text-15"/>
          <p:cNvSpPr>
            <a:spLocks noGrp="1"/>
          </p:cNvSpPr>
          <p:nvPr/>
        </p:nvSpPr>
        <p:spPr>
          <a:xfrm>
            <a:off x="381371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0-text-16"/>
          <p:cNvSpPr>
            <a:spLocks noGrp="1"/>
          </p:cNvSpPr>
          <p:nvPr/>
        </p:nvSpPr>
        <p:spPr>
          <a:xfrm>
            <a:off x="461619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0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0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组织序列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0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按上下文长度切块或截断，使用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EOS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表示边界；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Packing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拼接短文本，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Padding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补齐批量形状。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0-text-20"/>
          <p:cNvSpPr>
            <a:spLocks noGrp="1"/>
          </p:cNvSpPr>
          <p:nvPr/>
        </p:nvSpPr>
        <p:spPr>
          <a:xfrm>
            <a:off x="533400" y="353568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对齐下一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20-text-21"/>
          <p:cNvSpPr>
            <a:spLocks noGrp="1"/>
          </p:cNvSpPr>
          <p:nvPr/>
        </p:nvSpPr>
        <p:spPr>
          <a:xfrm>
            <a:off x="533400" y="385953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输入当前位置预测下一位置。标签偏移可能由模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型内部完成，不能重复偏移。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0-text-22"/>
          <p:cNvSpPr>
            <a:spLocks noGrp="1"/>
          </p:cNvSpPr>
          <p:nvPr/>
        </p:nvSpPr>
        <p:spPr>
          <a:xfrm>
            <a:off x="533400" y="461391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准备掩码与读取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0-text-23"/>
          <p:cNvSpPr>
            <a:spLocks noGrp="1"/>
          </p:cNvSpPr>
          <p:nvPr/>
        </p:nvSpPr>
        <p:spPr>
          <a:xfrm>
            <a:off x="533400" y="4937760"/>
            <a:ext cx="4914900" cy="8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因果掩码管可见范围，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Padding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掩码管填充位置，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 Mask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管监督位置；流式加载和预取保持供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2310" y="1845945"/>
            <a:ext cx="5840095" cy="41046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20-text-24"/>
          <p:cNvSpPr>
            <a:spLocks noGrp="1"/>
          </p:cNvSpPr>
          <p:nvPr/>
        </p:nvSpPr>
        <p:spPr>
          <a:xfrm>
            <a:off x="6000750" y="608901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文本分词、切分、偏移后形成批量张量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20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20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20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 IDs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、标签及相应掩码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20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接下来：将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送入模型执行前向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607935" y="13366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C00000"/>
                </a:solidFill>
              </a:rPr>
              <a:t>切分规则？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21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1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1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1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1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1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1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1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1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前向传播：从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得到预测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1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这一遍计算只生成当前参数下的输出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1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1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1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1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1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1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1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1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输入向量化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1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ID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Embedding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，得到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[B,T,d]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表示，并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按位置机制处理顺序。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1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经过模型主干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1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每层按因果约束聚合前缀信息，再经前馈和残差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结构更新隐藏表示。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1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输出所有位置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1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LM Head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[B,T,V]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Logits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。训练时同时预测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多个位置，生成时逐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2159000"/>
            <a:ext cx="5657850" cy="3122930"/>
          </a:xfrm>
          <a:prstGeom prst="rect">
            <a:avLst/>
          </a:prstGeom>
        </p:spPr>
      </p:pic>
      <p:sp>
        <p:nvSpPr>
          <p:cNvPr id="25" name="21-text-24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整个输入批次经过模型后获得预测张量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21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21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21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保留计算关系的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Logits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21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接下来：与真实下一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比较，计算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909435" y="1268730"/>
            <a:ext cx="5194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得到什么？保留计算关系的 </a:t>
            </a:r>
            <a:r>
              <a:rPr lang="en-US" altLang="zh-CN" sz="2400">
                <a:solidFill>
                  <a:srgbClr val="C00000"/>
                </a:solidFill>
              </a:rPr>
              <a:t>Logits</a:t>
            </a:r>
            <a:endParaRPr lang="en-US" altLang="zh-CN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22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2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2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2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2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2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2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2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2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：衡量真实下一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的预测误差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2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真实目标的概率越高，对应负对数损失越小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2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2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2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2-text-14"/>
          <p:cNvSpPr>
            <a:spLocks noGrp="1"/>
          </p:cNvSpPr>
          <p:nvPr/>
        </p:nvSpPr>
        <p:spPr>
          <a:xfrm>
            <a:off x="299113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2-text-15"/>
          <p:cNvSpPr>
            <a:spLocks noGrp="1"/>
          </p:cNvSpPr>
          <p:nvPr/>
        </p:nvSpPr>
        <p:spPr>
          <a:xfrm>
            <a:off x="3793617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2-text-16"/>
          <p:cNvSpPr>
            <a:spLocks noGrp="1"/>
          </p:cNvSpPr>
          <p:nvPr/>
        </p:nvSpPr>
        <p:spPr>
          <a:xfrm>
            <a:off x="4596098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2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2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取出目标概率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2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每个监督位置都有一个真实下一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，从该位置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的词表分布中取出它的概率。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2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求有效位置平均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2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mₜ=1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的位置参与监督，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mₜ=0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的位置忽略。交叉熵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对有效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求平均。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2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解释训练目标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2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自回归语言建模逐位置预测下一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，多个位置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的误差共同约束模型参数。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455" y="2574925"/>
            <a:ext cx="4891405" cy="2759075"/>
          </a:xfrm>
          <a:prstGeom prst="rect">
            <a:avLst/>
          </a:prstGeom>
        </p:spPr>
      </p:pic>
      <p:sp>
        <p:nvSpPr>
          <p:cNvPr id="26" name="22-text-25"/>
          <p:cNvSpPr>
            <a:spLocks noGrp="1"/>
          </p:cNvSpPr>
          <p:nvPr/>
        </p:nvSpPr>
        <p:spPr>
          <a:xfrm>
            <a:off x="6000750" y="54006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目标概率取负对数，再聚合为损失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22-frame-25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8" name="22-text-27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22-text-28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一个可反向传播的标量损失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22-text-29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沿计算关系反向计算梯度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80" y="1732280"/>
            <a:ext cx="2975610" cy="835660"/>
          </a:xfrm>
          <a:prstGeom prst="rect">
            <a:avLst/>
          </a:prstGeom>
        </p:spPr>
      </p:pic>
      <p:pic>
        <p:nvPicPr>
          <p:cNvPr id="34" name="图片 33" descr="user-provided-logo-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2" name="直接箭头连接符 31"/>
          <p:cNvCxnSpPr>
            <a:stCxn id="27" idx="3"/>
            <a:endCxn id="30" idx="1"/>
          </p:cNvCxnSpPr>
          <p:nvPr/>
        </p:nvCxnSpPr>
        <p:spPr>
          <a:xfrm>
            <a:off x="9686925" y="4167188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9" name="直接箭头连接符 28"/>
          <p:cNvCxnSpPr>
            <a:stCxn id="25" idx="3"/>
            <a:endCxn id="27" idx="1"/>
          </p:cNvCxnSpPr>
          <p:nvPr/>
        </p:nvCxnSpPr>
        <p:spPr>
          <a:xfrm>
            <a:off x="7715250" y="4167188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9" name="23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3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3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3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3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3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3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3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3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反向传播：从</a:t>
            </a: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loss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反推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参数梯度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3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梯度描述当前误差对每个可训练参数的局部变化方向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3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3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3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3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3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3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3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3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沿计算关系回传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3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从输出层逐层经过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Transformer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，直到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Embedding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，按链式法则计算梯度。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3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梯度与参数分开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3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反向过程产生或累加梯度，优化器更新发生在下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一步。冻结权重不进入其更新集合。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3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保留更新边界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3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若采用梯度累积，多个微批次先贡献梯度，累积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完成后才进行一次权重更新。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23-text-24"/>
          <p:cNvSpPr>
            <a:spLocks noGrp="1"/>
          </p:cNvSpPr>
          <p:nvPr/>
        </p:nvSpPr>
        <p:spPr>
          <a:xfrm>
            <a:off x="6000750" y="2476500"/>
            <a:ext cx="5657850" cy="384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 = ∇θ L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23-process-24"/>
          <p:cNvSpPr>
            <a:spLocks noGrp="1"/>
          </p:cNvSpPr>
          <p:nvPr/>
        </p:nvSpPr>
        <p:spPr>
          <a:xfrm>
            <a:off x="6000750" y="3762375"/>
            <a:ext cx="1714500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6" name="23-text-26"/>
          <p:cNvSpPr>
            <a:spLocks noGrp="1"/>
          </p:cNvSpPr>
          <p:nvPr/>
        </p:nvSpPr>
        <p:spPr>
          <a:xfrm>
            <a:off x="6115050" y="402907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23-process-26"/>
          <p:cNvSpPr>
            <a:spLocks noGrp="1"/>
          </p:cNvSpPr>
          <p:nvPr/>
        </p:nvSpPr>
        <p:spPr>
          <a:xfrm>
            <a:off x="7972425" y="3762375"/>
            <a:ext cx="1714500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8" name="23-text-28"/>
          <p:cNvSpPr>
            <a:spLocks noGrp="1"/>
          </p:cNvSpPr>
          <p:nvPr/>
        </p:nvSpPr>
        <p:spPr>
          <a:xfrm>
            <a:off x="8086725" y="402907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输出层与主干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23-process-29"/>
          <p:cNvSpPr>
            <a:spLocks noGrp="1"/>
          </p:cNvSpPr>
          <p:nvPr/>
        </p:nvSpPr>
        <p:spPr>
          <a:xfrm>
            <a:off x="9944100" y="3762375"/>
            <a:ext cx="1714500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1" name="23-text-31"/>
          <p:cNvSpPr>
            <a:spLocks noGrp="1"/>
          </p:cNvSpPr>
          <p:nvPr/>
        </p:nvSpPr>
        <p:spPr>
          <a:xfrm>
            <a:off x="10058400" y="402907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Embedding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23-text-33"/>
          <p:cNvSpPr>
            <a:spLocks noGrp="1"/>
          </p:cNvSpPr>
          <p:nvPr/>
        </p:nvSpPr>
        <p:spPr>
          <a:xfrm>
            <a:off x="6000750" y="5143500"/>
            <a:ext cx="56578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梯度沿计算关系向输入端传播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23-frame-3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5" name="23-text-3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23-text-3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可训练参数对应的梯度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23-text-3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接下来：梯度交给优化器，更新权重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188595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2" name="直接箭头连接符 31"/>
          <p:cNvCxnSpPr>
            <a:stCxn id="27" idx="3"/>
            <a:endCxn id="30" idx="1"/>
          </p:cNvCxnSpPr>
          <p:nvPr/>
        </p:nvCxnSpPr>
        <p:spPr>
          <a:xfrm>
            <a:off x="9686925" y="4310063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9" name="直接箭头连接符 28"/>
          <p:cNvCxnSpPr>
            <a:stCxn id="25" idx="3"/>
            <a:endCxn id="27" idx="1"/>
          </p:cNvCxnSpPr>
          <p:nvPr/>
        </p:nvCxnSpPr>
        <p:spPr>
          <a:xfrm>
            <a:off x="7715250" y="4310063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9" name="24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4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4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4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4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4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4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4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4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参数更新：优化器真正改变模型权重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4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AdamW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使用梯度历史调整更新，权重衰减与梯度项分开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4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4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4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4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4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4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4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4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裁剪梯度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4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在适用的更新边界检查梯度范数，裁剪异常峰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值；混合精度下注意先解除缩放。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4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AdamW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4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一阶、二阶统计调整各参数更新尺度，学习率决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定总体步幅，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Weight Decay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施加衰减。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4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进入下一轮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4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完成更新和调度，清除梯度，再读取下一批数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据；具体调度顺序需与更新次数一致。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24-process-24"/>
          <p:cNvSpPr>
            <a:spLocks noGrp="1"/>
          </p:cNvSpPr>
          <p:nvPr/>
        </p:nvSpPr>
        <p:spPr>
          <a:xfrm>
            <a:off x="6000750" y="3857625"/>
            <a:ext cx="1714500" cy="9048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6" name="24-text-26"/>
          <p:cNvSpPr>
            <a:spLocks noGrp="1"/>
          </p:cNvSpPr>
          <p:nvPr/>
        </p:nvSpPr>
        <p:spPr>
          <a:xfrm>
            <a:off x="6115050" y="4171950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梯度与状态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24-process-26"/>
          <p:cNvSpPr>
            <a:spLocks noGrp="1"/>
          </p:cNvSpPr>
          <p:nvPr/>
        </p:nvSpPr>
        <p:spPr>
          <a:xfrm>
            <a:off x="7972425" y="3857625"/>
            <a:ext cx="1714500" cy="9048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8" name="24-text-28"/>
          <p:cNvSpPr>
            <a:spLocks noGrp="1"/>
          </p:cNvSpPr>
          <p:nvPr/>
        </p:nvSpPr>
        <p:spPr>
          <a:xfrm>
            <a:off x="8086725" y="4171950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AdamW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24-process-29"/>
          <p:cNvSpPr>
            <a:spLocks noGrp="1"/>
          </p:cNvSpPr>
          <p:nvPr/>
        </p:nvSpPr>
        <p:spPr>
          <a:xfrm>
            <a:off x="9944100" y="3857625"/>
            <a:ext cx="1714500" cy="9048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1" name="24-text-31"/>
          <p:cNvSpPr>
            <a:spLocks noGrp="1"/>
          </p:cNvSpPr>
          <p:nvPr/>
        </p:nvSpPr>
        <p:spPr>
          <a:xfrm>
            <a:off x="10058400" y="4171950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新权重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24-text-33"/>
          <p:cNvSpPr>
            <a:spLocks noGrp="1"/>
          </p:cNvSpPr>
          <p:nvPr/>
        </p:nvSpPr>
        <p:spPr>
          <a:xfrm>
            <a:off x="6000750" y="5286375"/>
            <a:ext cx="5657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执行更新后，模型参数才发生变化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24-frame-3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5" name="24-text-3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24-text-3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新权重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θₜ₊₁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与更新后的优化器状态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24-text-3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接下来：把一次更新组织成可计量的训练过程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660" y="2493010"/>
            <a:ext cx="5465445" cy="674370"/>
          </a:xfrm>
          <a:prstGeom prst="rect">
            <a:avLst/>
          </a:prstGeom>
        </p:spPr>
      </p:pic>
      <p:pic>
        <p:nvPicPr>
          <p:cNvPr id="41" name="图片 40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864985" y="14668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C00000"/>
                </a:solidFill>
              </a:rPr>
              <a:t>optimizer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有哪些，怎样优化？</a:t>
            </a:r>
            <a:endParaRPr lang="zh-CN" altLang="en-US" sz="24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1" name="直接箭头连接符 40"/>
          <p:cNvCxnSpPr>
            <a:stCxn id="35" idx="3"/>
            <a:endCxn id="37" idx="1"/>
          </p:cNvCxnSpPr>
          <p:nvPr/>
        </p:nvCxnSpPr>
        <p:spPr>
          <a:xfrm>
            <a:off x="8572500" y="4381500"/>
            <a:ext cx="80962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40" name="肘形连接符 39"/>
          <p:cNvCxnSpPr>
            <a:stCxn id="32" idx="2"/>
            <a:endCxn id="35" idx="0"/>
          </p:cNvCxnSpPr>
          <p:nvPr/>
        </p:nvCxnSpPr>
        <p:spPr>
          <a:xfrm flipH="1">
            <a:off x="7620000" y="3324225"/>
            <a:ext cx="3427810" cy="676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9" name="肘形连接符 38"/>
          <p:cNvCxnSpPr>
            <a:stCxn id="26" idx="2"/>
            <a:endCxn id="35" idx="0"/>
          </p:cNvCxnSpPr>
          <p:nvPr/>
        </p:nvCxnSpPr>
        <p:spPr>
          <a:xfrm flipH="1">
            <a:off x="7620000" y="3324225"/>
            <a:ext cx="470296" cy="6762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4" name="直接箭头连接符 33"/>
          <p:cNvCxnSpPr>
            <a:stCxn id="29" idx="3"/>
            <a:endCxn id="32" idx="1"/>
          </p:cNvCxnSpPr>
          <p:nvPr/>
        </p:nvCxnSpPr>
        <p:spPr>
          <a:xfrm>
            <a:off x="10179844" y="301942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1" name="直接箭头连接符 30"/>
          <p:cNvCxnSpPr>
            <a:stCxn id="26" idx="3"/>
            <a:endCxn id="29" idx="1"/>
          </p:cNvCxnSpPr>
          <p:nvPr/>
        </p:nvCxnSpPr>
        <p:spPr>
          <a:xfrm>
            <a:off x="8701087" y="3019425"/>
            <a:ext cx="257176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8" name="直接箭头连接符 27"/>
          <p:cNvCxnSpPr>
            <a:stCxn id="24" idx="3"/>
            <a:endCxn id="26" idx="1"/>
          </p:cNvCxnSpPr>
          <p:nvPr/>
        </p:nvCxnSpPr>
        <p:spPr>
          <a:xfrm>
            <a:off x="7222331" y="301942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48" name="25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5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5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5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5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5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5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5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5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1.6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Step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与梯度累积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5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区分读取数据的次数与优化器更新参数的次数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5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5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5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5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5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5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5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5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三个计量单位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5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是一批样本，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Epoch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是遍历一次指定训练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Optimizer Step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是更新一次权重。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5-text-20"/>
          <p:cNvSpPr>
            <a:spLocks noGrp="1"/>
          </p:cNvSpPr>
          <p:nvPr/>
        </p:nvSpPr>
        <p:spPr>
          <a:xfrm>
            <a:off x="533400" y="353568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单卡梯度累积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5-text-21"/>
          <p:cNvSpPr>
            <a:spLocks noGrp="1"/>
          </p:cNvSpPr>
          <p:nvPr/>
        </p:nvSpPr>
        <p:spPr>
          <a:xfrm>
            <a:off x="533400" y="3859530"/>
            <a:ext cx="4914900" cy="8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个微批次贡献同一次更新：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B_effective =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B_micro × A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。峰值激活显存可降低，总计算量仍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5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按有效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5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变长微批次按有效监督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数加权，最后不足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完整累积窗口也需定义更新边界。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25-process-23"/>
          <p:cNvSpPr>
            <a:spLocks noGrp="1"/>
          </p:cNvSpPr>
          <p:nvPr/>
        </p:nvSpPr>
        <p:spPr>
          <a:xfrm>
            <a:off x="6000750" y="2714625"/>
            <a:ext cx="1221581" cy="6096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5" name="25-text-25"/>
          <p:cNvSpPr>
            <a:spLocks noGrp="1"/>
          </p:cNvSpPr>
          <p:nvPr/>
        </p:nvSpPr>
        <p:spPr>
          <a:xfrm>
            <a:off x="6115050" y="2881313"/>
            <a:ext cx="99298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微批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1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25-process-25"/>
          <p:cNvSpPr>
            <a:spLocks noGrp="1"/>
          </p:cNvSpPr>
          <p:nvPr/>
        </p:nvSpPr>
        <p:spPr>
          <a:xfrm>
            <a:off x="7479506" y="2714625"/>
            <a:ext cx="1221581" cy="6096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7" name="25-text-27"/>
          <p:cNvSpPr>
            <a:spLocks noGrp="1"/>
          </p:cNvSpPr>
          <p:nvPr/>
        </p:nvSpPr>
        <p:spPr>
          <a:xfrm>
            <a:off x="7593806" y="2881313"/>
            <a:ext cx="99298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微批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2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25-process-28"/>
          <p:cNvSpPr>
            <a:spLocks noGrp="1"/>
          </p:cNvSpPr>
          <p:nvPr/>
        </p:nvSpPr>
        <p:spPr>
          <a:xfrm>
            <a:off x="8958263" y="2714625"/>
            <a:ext cx="1221581" cy="6096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0" name="25-text-30"/>
          <p:cNvSpPr>
            <a:spLocks noGrp="1"/>
          </p:cNvSpPr>
          <p:nvPr/>
        </p:nvSpPr>
        <p:spPr>
          <a:xfrm>
            <a:off x="9072563" y="2881313"/>
            <a:ext cx="99298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25-process-31"/>
          <p:cNvSpPr>
            <a:spLocks noGrp="1"/>
          </p:cNvSpPr>
          <p:nvPr/>
        </p:nvSpPr>
        <p:spPr>
          <a:xfrm>
            <a:off x="10437019" y="2714625"/>
            <a:ext cx="1221581" cy="6096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3" name="25-text-33"/>
          <p:cNvSpPr>
            <a:spLocks noGrp="1"/>
          </p:cNvSpPr>
          <p:nvPr/>
        </p:nvSpPr>
        <p:spPr>
          <a:xfrm>
            <a:off x="10551319" y="2881313"/>
            <a:ext cx="992981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微批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25-process-34"/>
          <p:cNvSpPr>
            <a:spLocks noGrp="1"/>
          </p:cNvSpPr>
          <p:nvPr/>
        </p:nvSpPr>
        <p:spPr>
          <a:xfrm>
            <a:off x="6667500" y="4000500"/>
            <a:ext cx="1905000" cy="7620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6" name="25-text-36"/>
          <p:cNvSpPr>
            <a:spLocks noGrp="1"/>
          </p:cNvSpPr>
          <p:nvPr/>
        </p:nvSpPr>
        <p:spPr>
          <a:xfrm>
            <a:off x="6781800" y="4243388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累积梯度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25-process-36"/>
          <p:cNvSpPr>
            <a:spLocks noGrp="1"/>
          </p:cNvSpPr>
          <p:nvPr/>
        </p:nvSpPr>
        <p:spPr>
          <a:xfrm>
            <a:off x="9382125" y="4000500"/>
            <a:ext cx="2000250" cy="7620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8" name="25-text-38"/>
          <p:cNvSpPr>
            <a:spLocks noGrp="1"/>
          </p:cNvSpPr>
          <p:nvPr/>
        </p:nvSpPr>
        <p:spPr>
          <a:xfrm>
            <a:off x="9496425" y="4243388"/>
            <a:ext cx="17716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更新一次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25-text-42"/>
          <p:cNvSpPr>
            <a:spLocks noGrp="1"/>
          </p:cNvSpPr>
          <p:nvPr/>
        </p:nvSpPr>
        <p:spPr>
          <a:xfrm>
            <a:off x="6000750" y="5191125"/>
            <a:ext cx="56578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B_effective = B_micro × A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25-frame-42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44" name="25-text-44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25-text-45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清楚定义的更新次数、有效批量和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25-text-46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接下来：确定训练预算与学习率随进度的变化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48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6864985" y="14668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一次更新含多少数据？</a:t>
            </a:r>
            <a:endParaRPr lang="zh-CN" altLang="en-US" sz="24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26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6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6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6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6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6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6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6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6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训练预算与学习率：循环何时减速和停止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6-text-10"/>
          <p:cNvSpPr>
            <a:spLocks noGrp="1"/>
          </p:cNvSpPr>
          <p:nvPr/>
        </p:nvSpPr>
        <p:spPr>
          <a:xfrm>
            <a:off x="533400" y="1419225"/>
            <a:ext cx="5368290" cy="300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或更新次数描述进度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，再配置相应调度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6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6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6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6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6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6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6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6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确定预算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6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记录模型参数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N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、训练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D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、上下文长度与更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新步数；稠密模型粗估计算量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C≈6ND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6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设置学习率日程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6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Warmup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初期逐步升高，之后可用余弦或线性衰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减。不同训练方式需要不同更新尺度。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6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固定影响因素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6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优化器、衰减、裁剪、长度、采样与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Seed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一并记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录；计算量还要结合吞吐估计时间。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Chart"/>
          <p:cNvGraphicFramePr/>
          <p:nvPr/>
        </p:nvGraphicFramePr>
        <p:xfrm>
          <a:off x="5953125" y="2476500"/>
          <a:ext cx="5705475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26-text-24"/>
          <p:cNvSpPr>
            <a:spLocks noGrp="1"/>
          </p:cNvSpPr>
          <p:nvPr/>
        </p:nvSpPr>
        <p:spPr>
          <a:xfrm>
            <a:off x="6311900" y="5373370"/>
            <a:ext cx="57054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10% Warmup + Cosine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（理论示意）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26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26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26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明确的训练预算和学习率曲线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26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接下来：确认训练状态与激活能否容纳于显存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594600" y="148463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为什么不用</a:t>
            </a:r>
            <a:r>
              <a:rPr lang="en-US" altLang="zh-CN" sz="2400">
                <a:solidFill>
                  <a:srgbClr val="C00000"/>
                </a:solidFill>
              </a:rPr>
              <a:t>epoch</a:t>
            </a:r>
            <a:r>
              <a:rPr lang="zh-CN" altLang="en-US" sz="2400">
                <a:solidFill>
                  <a:srgbClr val="C00000"/>
                </a:solidFill>
              </a:rPr>
              <a:t>衡量进度？</a:t>
            </a:r>
            <a:endParaRPr lang="zh-CN" altLang="en-US" sz="2400">
              <a:solidFill>
                <a:srgbClr val="C00000"/>
              </a:solidFill>
            </a:endParaRPr>
          </a:p>
          <a:p>
            <a:r>
              <a:rPr lang="zh-CN" altLang="en-US" sz="2400">
                <a:solidFill>
                  <a:srgbClr val="C00000"/>
                </a:solidFill>
              </a:rPr>
              <a:t>相对学习率为什么先升后降？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27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7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7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7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7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7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7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7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7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显存与精度：训练时需要保存哪些状态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7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模型权重只是显存的一部分，激活随批量和长度变化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7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7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7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7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7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7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7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7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常驻训练状态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7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权重、梯度、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Adam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一二阶状态，某些混合精度配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置还保留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FP32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主权重副本。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7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中间激活与临时张量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7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前向保留部分结果用于反向。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Micro Batch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、上下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文长度和结构共同影响峰值显存。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7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混合精度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7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BF16 / FP16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可减少部分存储与计算开销。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FP16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常结合损失缩放，部分统计仍使用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FP32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6000750" y="2571750"/>
          <a:ext cx="5657850" cy="2724150"/>
        </p:xfrm>
        <a:graphic>
          <a:graphicData uri="http://schemas.openxmlformats.org/drawingml/2006/table">
            <a:tbl>
              <a:tblPr/>
              <a:tblGrid>
                <a:gridCol w="3571875"/>
                <a:gridCol w="2085975"/>
              </a:tblGrid>
              <a:tr h="4540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组成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近似字节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4540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BF16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FP32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主权重（若有）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4540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4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Adam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一阶＋二阶状态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4540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常驻状态小计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16–18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27-text-24"/>
          <p:cNvSpPr>
            <a:spLocks noGrp="1"/>
          </p:cNvSpPr>
          <p:nvPr/>
        </p:nvSpPr>
        <p:spPr>
          <a:xfrm>
            <a:off x="6000750" y="5572125"/>
            <a:ext cx="56578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未含激活，实际取决于实现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27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27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27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显存组成与数值精度方案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27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接下来：进一步减少中间激活和注意力访存开销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5" name="直接箭头连接符 34"/>
          <p:cNvCxnSpPr>
            <a:stCxn id="31" idx="3"/>
            <a:endCxn id="33" idx="1"/>
          </p:cNvCxnSpPr>
          <p:nvPr/>
        </p:nvCxnSpPr>
        <p:spPr>
          <a:xfrm>
            <a:off x="8701088" y="4976813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9" name="直接箭头连接符 28"/>
          <p:cNvCxnSpPr>
            <a:stCxn id="25" idx="3"/>
            <a:endCxn id="27" idx="1"/>
          </p:cNvCxnSpPr>
          <p:nvPr/>
        </p:nvCxnSpPr>
        <p:spPr>
          <a:xfrm>
            <a:off x="8701088" y="3395663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41" name="28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8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8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8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8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8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8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8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8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激活检查点与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FlashAttention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：优化计算中的存储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8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两项技术分别减少保留的激活和注意力访存开销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8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8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8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8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8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8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8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8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激活检查点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8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前向只保留部分激活，反向需要时重新计算，以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额外计算换取较低显存。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8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FlashAttention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28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分块组织精确注意力计算，减少大中间矩阵的显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存读写，不改变因果建模目标。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8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回到训练循环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8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二者作用于前向与反向计算，不能替代降低批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量、调整长度或减少训练状态。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28-text-24"/>
          <p:cNvSpPr>
            <a:spLocks noGrp="1"/>
          </p:cNvSpPr>
          <p:nvPr/>
        </p:nvSpPr>
        <p:spPr>
          <a:xfrm>
            <a:off x="6000750" y="2571750"/>
            <a:ext cx="5657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激活检查点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28-process-24"/>
          <p:cNvSpPr>
            <a:spLocks noGrp="1"/>
          </p:cNvSpPr>
          <p:nvPr/>
        </p:nvSpPr>
        <p:spPr>
          <a:xfrm>
            <a:off x="6000750" y="3038475"/>
            <a:ext cx="2700338" cy="7143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6" name="28-text-26"/>
          <p:cNvSpPr>
            <a:spLocks noGrp="1"/>
          </p:cNvSpPr>
          <p:nvPr/>
        </p:nvSpPr>
        <p:spPr>
          <a:xfrm>
            <a:off x="6115050" y="3257550"/>
            <a:ext cx="247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少存激活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28-process-26"/>
          <p:cNvSpPr>
            <a:spLocks noGrp="1"/>
          </p:cNvSpPr>
          <p:nvPr/>
        </p:nvSpPr>
        <p:spPr>
          <a:xfrm>
            <a:off x="8958263" y="3038475"/>
            <a:ext cx="2700338" cy="7143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8" name="28-text-28"/>
          <p:cNvSpPr>
            <a:spLocks noGrp="1"/>
          </p:cNvSpPr>
          <p:nvPr/>
        </p:nvSpPr>
        <p:spPr>
          <a:xfrm>
            <a:off x="9072563" y="3257550"/>
            <a:ext cx="247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反向时重算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28-text-30"/>
          <p:cNvSpPr>
            <a:spLocks noGrp="1"/>
          </p:cNvSpPr>
          <p:nvPr/>
        </p:nvSpPr>
        <p:spPr>
          <a:xfrm>
            <a:off x="6000750" y="4143375"/>
            <a:ext cx="5657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FlashAttention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28-process-30"/>
          <p:cNvSpPr>
            <a:spLocks noGrp="1"/>
          </p:cNvSpPr>
          <p:nvPr/>
        </p:nvSpPr>
        <p:spPr>
          <a:xfrm>
            <a:off x="6000750" y="4619625"/>
            <a:ext cx="2700338" cy="7143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2" name="28-text-32"/>
          <p:cNvSpPr>
            <a:spLocks noGrp="1"/>
          </p:cNvSpPr>
          <p:nvPr/>
        </p:nvSpPr>
        <p:spPr>
          <a:xfrm>
            <a:off x="6115050" y="4838700"/>
            <a:ext cx="247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分块计算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28-process-32"/>
          <p:cNvSpPr>
            <a:spLocks noGrp="1"/>
          </p:cNvSpPr>
          <p:nvPr/>
        </p:nvSpPr>
        <p:spPr>
          <a:xfrm>
            <a:off x="8958263" y="4619625"/>
            <a:ext cx="2700338" cy="71437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4" name="28-text-34"/>
          <p:cNvSpPr>
            <a:spLocks noGrp="1"/>
          </p:cNvSpPr>
          <p:nvPr/>
        </p:nvSpPr>
        <p:spPr>
          <a:xfrm>
            <a:off x="9072563" y="4838700"/>
            <a:ext cx="247173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减少显存读写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28-frame-35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7" name="28-text-37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28-text-38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更可控的计算与显存开销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28-text-39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接下来：监控循环运行，并保存可恢复的状态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29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29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9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9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29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9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29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9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9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训练监控与检查点：循环中怎样观察和恢复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29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持续记录状态，周期保存完整训练进度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9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29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29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29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29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29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29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29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观察是否正常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29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监控训练与验证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、学习率、梯度范数、有效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token/s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、显存和数据来源比例。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29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保存恢复状态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9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保存权重、优化器、调度器、随机状态、数据消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费位置及适用的精度缩放状态。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29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管理版本与边界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29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关联数据、模型、配置和环境版本，尽量在更新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边界保存，记录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NaN/Inf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和中断位置。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2977268"/>
            <a:ext cx="5657850" cy="1970263"/>
          </a:xfrm>
          <a:prstGeom prst="rect">
            <a:avLst/>
          </a:prstGeom>
        </p:spPr>
      </p:pic>
      <p:sp>
        <p:nvSpPr>
          <p:cNvPr id="25" name="29-text-24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训练流程中的权重保存与重新加载位置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29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29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29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训练记录与可接续的检查点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29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接下来：根据预算、验证与能力指标验收基础模型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30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0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0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0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0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0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0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0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0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预训练验收：何时得到可用的基础模型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0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检查对未见文本的预测与目标能力，而不只看训练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30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Batch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30-text-12"/>
          <p:cNvSpPr>
            <a:spLocks noGrp="1"/>
          </p:cNvSpPr>
          <p:nvPr/>
        </p:nvSpPr>
        <p:spPr>
          <a:xfrm>
            <a:off x="139607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0-text-13"/>
          <p:cNvSpPr>
            <a:spLocks noGrp="1"/>
          </p:cNvSpPr>
          <p:nvPr/>
        </p:nvSpPr>
        <p:spPr>
          <a:xfrm>
            <a:off x="219856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0-text-14"/>
          <p:cNvSpPr>
            <a:spLocks noGrp="1"/>
          </p:cNvSpPr>
          <p:nvPr/>
        </p:nvSpPr>
        <p:spPr>
          <a:xfrm>
            <a:off x="298094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0-text-15"/>
          <p:cNvSpPr>
            <a:spLocks noGrp="1"/>
          </p:cNvSpPr>
          <p:nvPr/>
        </p:nvSpPr>
        <p:spPr>
          <a:xfrm>
            <a:off x="3783425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0-text-16"/>
          <p:cNvSpPr>
            <a:spLocks noGrp="1"/>
          </p:cNvSpPr>
          <p:nvPr/>
        </p:nvSpPr>
        <p:spPr>
          <a:xfrm>
            <a:off x="4585906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0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30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比较训练与验证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0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两者共同下降支持泛化改善。训练降、验证升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时，检查过拟合和分布差异。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0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PPL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30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PPL = exp(L)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。比较时固定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、数据、上下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文与计分方式。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0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检查阶段能力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0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观察连贯性、重复、知识、代码或数学等能力，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按预算和综合指标选择检查点。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30-process-23"/>
          <p:cNvSpPr>
            <a:spLocks noGrp="1"/>
          </p:cNvSpPr>
          <p:nvPr/>
        </p:nvSpPr>
        <p:spPr>
          <a:xfrm>
            <a:off x="6000750" y="4650740"/>
            <a:ext cx="1714500" cy="8382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5" name="30-text-25"/>
          <p:cNvSpPr>
            <a:spLocks noGrp="1"/>
          </p:cNvSpPr>
          <p:nvPr/>
        </p:nvSpPr>
        <p:spPr>
          <a:xfrm>
            <a:off x="6115050" y="4793615"/>
            <a:ext cx="148590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Loss /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PPL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30-process-25"/>
          <p:cNvSpPr>
            <a:spLocks noGrp="1"/>
          </p:cNvSpPr>
          <p:nvPr/>
        </p:nvSpPr>
        <p:spPr>
          <a:xfrm>
            <a:off x="7972425" y="4650740"/>
            <a:ext cx="1714500" cy="8382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7" name="30-text-27"/>
          <p:cNvSpPr>
            <a:spLocks noGrp="1"/>
          </p:cNvSpPr>
          <p:nvPr/>
        </p:nvSpPr>
        <p:spPr>
          <a:xfrm>
            <a:off x="8086725" y="493172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目标能力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30-process-27"/>
          <p:cNvSpPr>
            <a:spLocks noGrp="1"/>
          </p:cNvSpPr>
          <p:nvPr/>
        </p:nvSpPr>
        <p:spPr>
          <a:xfrm>
            <a:off x="9944100" y="4650740"/>
            <a:ext cx="1714500" cy="8382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9" name="30-text-29"/>
          <p:cNvSpPr>
            <a:spLocks noGrp="1"/>
          </p:cNvSpPr>
          <p:nvPr/>
        </p:nvSpPr>
        <p:spPr>
          <a:xfrm>
            <a:off x="10058400" y="493172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生成表现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30-text-30"/>
          <p:cNvSpPr>
            <a:spLocks noGrp="1"/>
          </p:cNvSpPr>
          <p:nvPr/>
        </p:nvSpPr>
        <p:spPr>
          <a:xfrm>
            <a:off x="6000750" y="5601335"/>
            <a:ext cx="5657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与预算、停止条件共同判断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30-process-30"/>
          <p:cNvSpPr>
            <a:spLocks noGrp="1"/>
          </p:cNvSpPr>
          <p:nvPr/>
        </p:nvSpPr>
        <p:spPr>
          <a:xfrm>
            <a:off x="6905625" y="5981700"/>
            <a:ext cx="3857625" cy="619125"/>
          </a:xfrm>
          <a:prstGeom prst="rect">
            <a:avLst/>
          </a:prstGeom>
          <a:solidFill>
            <a:srgbClr val="1668B8"/>
          </a:solidFill>
          <a:ln w="9525">
            <a:solidFill>
              <a:srgbClr val="CDDDEB"/>
            </a:solidFill>
          </a:ln>
        </p:spPr>
      </p:sp>
      <p:sp>
        <p:nvSpPr>
          <p:cNvPr id="32" name="30-text-32"/>
          <p:cNvSpPr>
            <a:spLocks noGrp="1"/>
          </p:cNvSpPr>
          <p:nvPr/>
        </p:nvSpPr>
        <p:spPr>
          <a:xfrm>
            <a:off x="7019925" y="6153150"/>
            <a:ext cx="36290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选定基础模型检查点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30-frame-32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4" name="30-text-34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30-text-35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通过阶段验收的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Base Model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30-text-36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接下来：按需求进入可选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CPT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，或直接进入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9" name="图片 38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7007860" y="1593850"/>
            <a:ext cx="4238625" cy="679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C00000"/>
                </a:solidFill>
              </a:rPr>
              <a:t>一般是固定预算</a:t>
            </a:r>
            <a:endParaRPr lang="zh-CN" altLang="en-US" sz="2800">
              <a:solidFill>
                <a:srgbClr val="C00000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870" y="2345055"/>
            <a:ext cx="4909820" cy="2037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6" name="直接箭头连接符 25"/>
          <p:cNvCxnSpPr>
            <a:stCxn id="19" idx="3"/>
            <a:endCxn id="23" idx="1"/>
          </p:cNvCxnSpPr>
          <p:nvPr/>
        </p:nvCxnSpPr>
        <p:spPr>
          <a:xfrm>
            <a:off x="8813007" y="3419475"/>
            <a:ext cx="257174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2" name="直接箭头连接符 21"/>
          <p:cNvCxnSpPr>
            <a:stCxn id="15" idx="3"/>
            <a:endCxn id="19" idx="1"/>
          </p:cNvCxnSpPr>
          <p:nvPr/>
        </p:nvCxnSpPr>
        <p:spPr>
          <a:xfrm>
            <a:off x="5967413" y="341947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2" idx="3"/>
            <a:endCxn id="15" idx="1"/>
          </p:cNvCxnSpPr>
          <p:nvPr/>
        </p:nvCxnSpPr>
        <p:spPr>
          <a:xfrm>
            <a:off x="3121819" y="341947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4" name="31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1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1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1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1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1-text-6"/>
          <p:cNvSpPr>
            <a:spLocks noGrp="1"/>
          </p:cNvSpPr>
          <p:nvPr/>
        </p:nvSpPr>
        <p:spPr>
          <a:xfrm>
            <a:off x="4510088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1-text-7"/>
          <p:cNvSpPr>
            <a:spLocks noGrp="1"/>
          </p:cNvSpPr>
          <p:nvPr/>
        </p:nvSpPr>
        <p:spPr>
          <a:xfrm>
            <a:off x="5083111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1-text-8"/>
          <p:cNvSpPr>
            <a:spLocks noGrp="1"/>
          </p:cNvSpPr>
          <p:nvPr/>
        </p:nvSpPr>
        <p:spPr>
          <a:xfrm>
            <a:off x="6702361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1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 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：在已有权重上继续语言建模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1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可选阶段，目标是适应新的文本分布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1-text-11"/>
          <p:cNvSpPr>
            <a:spLocks noGrp="1"/>
          </p:cNvSpPr>
          <p:nvPr/>
        </p:nvSpPr>
        <p:spPr>
          <a:xfrm>
            <a:off x="533400" y="2057400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阶段输入：基础模型或其他已有模型、新的未标注文本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1-process-11"/>
          <p:cNvSpPr>
            <a:spLocks noGrp="1"/>
          </p:cNvSpPr>
          <p:nvPr/>
        </p:nvSpPr>
        <p:spPr>
          <a:xfrm>
            <a:off x="533400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3" name="31-text-13"/>
          <p:cNvSpPr>
            <a:spLocks noGrp="1"/>
          </p:cNvSpPr>
          <p:nvPr/>
        </p:nvSpPr>
        <p:spPr>
          <a:xfrm>
            <a:off x="647700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加载已有模型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31-text-14"/>
          <p:cNvSpPr>
            <a:spLocks noGrp="1"/>
          </p:cNvSpPr>
          <p:nvPr/>
        </p:nvSpPr>
        <p:spPr>
          <a:xfrm>
            <a:off x="628650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保留匹配的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31-process-14"/>
          <p:cNvSpPr>
            <a:spLocks noGrp="1"/>
          </p:cNvSpPr>
          <p:nvPr/>
        </p:nvSpPr>
        <p:spPr>
          <a:xfrm>
            <a:off x="3378994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6" name="31-text-16"/>
          <p:cNvSpPr>
            <a:spLocks noGrp="1"/>
          </p:cNvSpPr>
          <p:nvPr/>
        </p:nvSpPr>
        <p:spPr>
          <a:xfrm>
            <a:off x="3493294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准备继续训练语料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1-text-17"/>
          <p:cNvSpPr>
            <a:spLocks noGrp="1"/>
          </p:cNvSpPr>
          <p:nvPr/>
        </p:nvSpPr>
        <p:spPr>
          <a:xfrm>
            <a:off x="3474244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通用新语料或目标领域文本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1-process-18"/>
          <p:cNvSpPr>
            <a:spLocks noGrp="1"/>
          </p:cNvSpPr>
          <p:nvPr/>
        </p:nvSpPr>
        <p:spPr>
          <a:xfrm>
            <a:off x="6224588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0" name="31-text-20"/>
          <p:cNvSpPr>
            <a:spLocks noGrp="1"/>
          </p:cNvSpPr>
          <p:nvPr/>
        </p:nvSpPr>
        <p:spPr>
          <a:xfrm>
            <a:off x="6338888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1-text-21"/>
          <p:cNvSpPr>
            <a:spLocks noGrp="1"/>
          </p:cNvSpPr>
          <p:nvPr/>
        </p:nvSpPr>
        <p:spPr>
          <a:xfrm>
            <a:off x="6319838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仍预测下一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31-process-22"/>
          <p:cNvSpPr>
            <a:spLocks noGrp="1"/>
          </p:cNvSpPr>
          <p:nvPr/>
        </p:nvSpPr>
        <p:spPr>
          <a:xfrm>
            <a:off x="9070181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4" name="31-text-24"/>
          <p:cNvSpPr>
            <a:spLocks noGrp="1"/>
          </p:cNvSpPr>
          <p:nvPr/>
        </p:nvSpPr>
        <p:spPr>
          <a:xfrm>
            <a:off x="9184481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31-text-25"/>
          <p:cNvSpPr>
            <a:spLocks noGrp="1"/>
          </p:cNvSpPr>
          <p:nvPr/>
        </p:nvSpPr>
        <p:spPr>
          <a:xfrm>
            <a:off x="9165431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检查收益与通用能力退化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31-text-27"/>
          <p:cNvSpPr>
            <a:spLocks noGrp="1"/>
          </p:cNvSpPr>
          <p:nvPr/>
        </p:nvSpPr>
        <p:spPr>
          <a:xfrm>
            <a:off x="533400" y="4667250"/>
            <a:ext cx="111252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需要指令行为时，后续仍可进行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31-text-28"/>
          <p:cNvSpPr>
            <a:spLocks noGrp="1"/>
          </p:cNvSpPr>
          <p:nvPr/>
        </p:nvSpPr>
        <p:spPr>
          <a:xfrm>
            <a:off x="533400" y="5514975"/>
            <a:ext cx="11125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接下来依次展开以上步骤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31-frame-28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0" name="31-text-30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31-text-31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继续适应数据分布的模型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31-text-32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接下来：按顺序展开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CPT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的数据、更新与验收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7319645" y="1916430"/>
            <a:ext cx="3957955" cy="850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C00000"/>
                </a:solidFill>
              </a:rPr>
              <a:t>代码、数理、网安</a:t>
            </a:r>
            <a:endParaRPr lang="zh-CN" altLang="en-US" sz="28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9" name="直接箭头连接符 28"/>
          <p:cNvCxnSpPr>
            <a:stCxn id="24" idx="3"/>
            <a:endCxn id="27" idx="1"/>
          </p:cNvCxnSpPr>
          <p:nvPr/>
        </p:nvCxnSpPr>
        <p:spPr>
          <a:xfrm>
            <a:off x="9686925" y="3714750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6" name="直接箭头连接符 25"/>
          <p:cNvCxnSpPr>
            <a:stCxn id="22" idx="3"/>
            <a:endCxn id="24" idx="1"/>
          </p:cNvCxnSpPr>
          <p:nvPr/>
        </p:nvCxnSpPr>
        <p:spPr>
          <a:xfrm>
            <a:off x="7715250" y="3714750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6" name="32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2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2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2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2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2-text-6"/>
          <p:cNvSpPr>
            <a:spLocks noGrp="1"/>
          </p:cNvSpPr>
          <p:nvPr/>
        </p:nvSpPr>
        <p:spPr>
          <a:xfrm>
            <a:off x="4510088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2-text-7"/>
          <p:cNvSpPr>
            <a:spLocks noGrp="1"/>
          </p:cNvSpPr>
          <p:nvPr/>
        </p:nvSpPr>
        <p:spPr>
          <a:xfrm>
            <a:off x="5083111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2-text-8"/>
          <p:cNvSpPr>
            <a:spLocks noGrp="1"/>
          </p:cNvSpPr>
          <p:nvPr/>
        </p:nvSpPr>
        <p:spPr>
          <a:xfrm>
            <a:off x="6702361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2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CPT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：哪些沿用，哪些需要调整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2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沿用训练循环，重点改变初始化、语料分布和更新强度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2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加载已有模型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2-text-12"/>
          <p:cNvSpPr>
            <a:spLocks noGrp="1"/>
          </p:cNvSpPr>
          <p:nvPr/>
        </p:nvSpPr>
        <p:spPr>
          <a:xfrm>
            <a:off x="20597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准备新语料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2-text-13"/>
          <p:cNvSpPr>
            <a:spLocks noGrp="1"/>
          </p:cNvSpPr>
          <p:nvPr/>
        </p:nvSpPr>
        <p:spPr>
          <a:xfrm>
            <a:off x="3405188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32-text-14"/>
          <p:cNvSpPr>
            <a:spLocks noGrp="1"/>
          </p:cNvSpPr>
          <p:nvPr/>
        </p:nvSpPr>
        <p:spPr>
          <a:xfrm>
            <a:off x="4569619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2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32-text-16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准备数据与起点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2-text-17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加载已有权重和原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，清洗新语料，同时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保留通用与目标验证集。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32-text-18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继续参数更新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2-text-19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沿用下一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交叉熵，重新确定学习率、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预算、更新范围及通用回放比例。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2-text-20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验收并衔接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2-text-21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比较新分布收益、通用遗忘与原指令行为，选定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检查点后进入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2-process-21"/>
          <p:cNvSpPr>
            <a:spLocks noGrp="1"/>
          </p:cNvSpPr>
          <p:nvPr/>
        </p:nvSpPr>
        <p:spPr>
          <a:xfrm>
            <a:off x="6000750" y="3238500"/>
            <a:ext cx="1714500" cy="9525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3" name="32-text-23"/>
          <p:cNvSpPr>
            <a:spLocks noGrp="1"/>
          </p:cNvSpPr>
          <p:nvPr/>
        </p:nvSpPr>
        <p:spPr>
          <a:xfrm>
            <a:off x="6115050" y="357663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已有权重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32-process-23"/>
          <p:cNvSpPr>
            <a:spLocks noGrp="1"/>
          </p:cNvSpPr>
          <p:nvPr/>
        </p:nvSpPr>
        <p:spPr>
          <a:xfrm>
            <a:off x="7972425" y="3238500"/>
            <a:ext cx="1714500" cy="9525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5" name="32-text-25"/>
          <p:cNvSpPr>
            <a:spLocks noGrp="1"/>
          </p:cNvSpPr>
          <p:nvPr/>
        </p:nvSpPr>
        <p:spPr>
          <a:xfrm>
            <a:off x="8086725" y="357663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继续语言建模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32-process-26"/>
          <p:cNvSpPr>
            <a:spLocks noGrp="1"/>
          </p:cNvSpPr>
          <p:nvPr/>
        </p:nvSpPr>
        <p:spPr>
          <a:xfrm>
            <a:off x="9944100" y="3238500"/>
            <a:ext cx="1714500" cy="9525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8" name="32-text-28"/>
          <p:cNvSpPr>
            <a:spLocks noGrp="1"/>
          </p:cNvSpPr>
          <p:nvPr/>
        </p:nvSpPr>
        <p:spPr>
          <a:xfrm>
            <a:off x="10058400" y="357663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新检查点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32-text-30"/>
          <p:cNvSpPr>
            <a:spLocks noGrp="1"/>
          </p:cNvSpPr>
          <p:nvPr/>
        </p:nvSpPr>
        <p:spPr>
          <a:xfrm>
            <a:off x="6000750" y="4667250"/>
            <a:ext cx="56578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新语料分布与通用回放共同决定学习内容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32-frame-30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2" name="32-text-32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32-text-33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有明确收益与退化记录的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CPT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32-text-34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接下来：用示范回答进行监督微调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7031990" y="16021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C00000"/>
                </a:solidFill>
              </a:rPr>
              <a:t>额外补课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6" name="直接箭头连接符 25"/>
          <p:cNvCxnSpPr>
            <a:stCxn id="19" idx="3"/>
            <a:endCxn id="23" idx="1"/>
          </p:cNvCxnSpPr>
          <p:nvPr/>
        </p:nvCxnSpPr>
        <p:spPr>
          <a:xfrm>
            <a:off x="8813007" y="3419475"/>
            <a:ext cx="257174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2" name="直接箭头连接符 21"/>
          <p:cNvCxnSpPr>
            <a:stCxn id="15" idx="3"/>
            <a:endCxn id="19" idx="1"/>
          </p:cNvCxnSpPr>
          <p:nvPr/>
        </p:nvCxnSpPr>
        <p:spPr>
          <a:xfrm>
            <a:off x="5967413" y="341947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2" idx="3"/>
            <a:endCxn id="15" idx="1"/>
          </p:cNvCxnSpPr>
          <p:nvPr/>
        </p:nvCxnSpPr>
        <p:spPr>
          <a:xfrm>
            <a:off x="3121819" y="341947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4" name="33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3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3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3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3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3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3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3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3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 </a:t>
            </a:r>
            <a:r>
              <a:rPr b="1">
                <a:solidFill>
                  <a:srgbClr val="C00000"/>
                </a:solidFill>
              </a:rPr>
              <a:t>监督微调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：基础模型如何学习指令回答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3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先看完整流程，再依次展开数据、监督位置和参数更新方式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3-text-11"/>
          <p:cNvSpPr>
            <a:spLocks noGrp="1"/>
          </p:cNvSpPr>
          <p:nvPr/>
        </p:nvSpPr>
        <p:spPr>
          <a:xfrm>
            <a:off x="533400" y="2057400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阶段输入：基础模型或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CPT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模型、高质量示范回答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3-process-11"/>
          <p:cNvSpPr>
            <a:spLocks noGrp="1"/>
          </p:cNvSpPr>
          <p:nvPr/>
        </p:nvSpPr>
        <p:spPr>
          <a:xfrm>
            <a:off x="533400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3" name="33-text-13"/>
          <p:cNvSpPr>
            <a:spLocks noGrp="1"/>
          </p:cNvSpPr>
          <p:nvPr/>
        </p:nvSpPr>
        <p:spPr>
          <a:xfrm>
            <a:off x="647700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准备示范数据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33-text-14"/>
          <p:cNvSpPr>
            <a:spLocks noGrp="1"/>
          </p:cNvSpPr>
          <p:nvPr/>
        </p:nvSpPr>
        <p:spPr>
          <a:xfrm>
            <a:off x="628650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指令、上下文与标准回答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3-process-14"/>
          <p:cNvSpPr>
            <a:spLocks noGrp="1"/>
          </p:cNvSpPr>
          <p:nvPr/>
        </p:nvSpPr>
        <p:spPr>
          <a:xfrm>
            <a:off x="3378994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6" name="33-text-16"/>
          <p:cNvSpPr>
            <a:spLocks noGrp="1"/>
          </p:cNvSpPr>
          <p:nvPr/>
        </p:nvSpPr>
        <p:spPr>
          <a:xfrm>
            <a:off x="3493294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编码与监督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3-text-17"/>
          <p:cNvSpPr>
            <a:spLocks noGrp="1"/>
          </p:cNvSpPr>
          <p:nvPr/>
        </p:nvSpPr>
        <p:spPr>
          <a:xfrm>
            <a:off x="3474244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Token ID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33-process-18"/>
          <p:cNvSpPr>
            <a:spLocks noGrp="1"/>
          </p:cNvSpPr>
          <p:nvPr/>
        </p:nvSpPr>
        <p:spPr>
          <a:xfrm>
            <a:off x="6224588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0" name="33-text-20"/>
          <p:cNvSpPr>
            <a:spLocks noGrp="1"/>
          </p:cNvSpPr>
          <p:nvPr/>
        </p:nvSpPr>
        <p:spPr>
          <a:xfrm>
            <a:off x="6338888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选择更新方式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3-text-21"/>
          <p:cNvSpPr>
            <a:spLocks noGrp="1"/>
          </p:cNvSpPr>
          <p:nvPr/>
        </p:nvSpPr>
        <p:spPr>
          <a:xfrm>
            <a:off x="6319838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全参或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LoRA / QLoRA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33-process-22"/>
          <p:cNvSpPr>
            <a:spLocks noGrp="1"/>
          </p:cNvSpPr>
          <p:nvPr/>
        </p:nvSpPr>
        <p:spPr>
          <a:xfrm>
            <a:off x="9070181" y="2895600"/>
            <a:ext cx="2588419" cy="10477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4" name="33-text-24"/>
          <p:cNvSpPr>
            <a:spLocks noGrp="1"/>
          </p:cNvSpPr>
          <p:nvPr/>
        </p:nvSpPr>
        <p:spPr>
          <a:xfrm>
            <a:off x="9184481" y="3028950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33-text-25"/>
          <p:cNvSpPr>
            <a:spLocks noGrp="1"/>
          </p:cNvSpPr>
          <p:nvPr/>
        </p:nvSpPr>
        <p:spPr>
          <a:xfrm>
            <a:off x="9165431" y="3324225"/>
            <a:ext cx="2397919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更新模型并验证行为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33-text-27"/>
          <p:cNvSpPr>
            <a:spLocks noGrp="1"/>
          </p:cNvSpPr>
          <p:nvPr/>
        </p:nvSpPr>
        <p:spPr>
          <a:xfrm>
            <a:off x="533400" y="4667250"/>
            <a:ext cx="111252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是训练目标与数据组织，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LoRA / QLoRA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是参数更新方式。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33-text-28"/>
          <p:cNvSpPr>
            <a:spLocks noGrp="1"/>
          </p:cNvSpPr>
          <p:nvPr/>
        </p:nvSpPr>
        <p:spPr>
          <a:xfrm>
            <a:off x="533400" y="5514975"/>
            <a:ext cx="111252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接下来依次展开以上步骤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33-frame-28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0" name="33-text-30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33-text-31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能够遵循目标指令的模型或适配器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33-text-32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接下来：先确定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数据包含什么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34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4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4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4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4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4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4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4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4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4.1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数据：提供指令和期望回答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4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模型学习在给定任务与上下文条件下生成示范回答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4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4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4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4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4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4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4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34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基本组成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4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单轮可用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Instruction / Output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Prompt /</a:t>
            </a:r>
            <a:endParaRPr b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Completion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，多轮用带角色的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Message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4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示范质量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4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核查正确性、完整性和一致性，覆盖不同任务、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难度、长度与边界情况。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4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独立划分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4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按来源和任务族隔离验证与测试，清理重复和冲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突回答，记录各类任务配比。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925" y="2476500"/>
            <a:ext cx="5651500" cy="2971800"/>
          </a:xfrm>
          <a:prstGeom prst="rect">
            <a:avLst/>
          </a:prstGeom>
        </p:spPr>
      </p:pic>
      <p:sp>
        <p:nvSpPr>
          <p:cNvPr id="25" name="34-text-24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指令输入与期望回答构成监督样本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34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34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34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可用于监督的指令与示范数据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34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接下来：用模型指定模板编码对话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7176135" y="14077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C00000"/>
                </a:solidFill>
              </a:rPr>
              <a:t>问答形式的样本</a:t>
            </a:r>
            <a:endParaRPr lang="zh-CN" altLang="en-US" sz="28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35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5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5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5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5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5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5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5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5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4.2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Chat Template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：对话怎样变成一条序列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5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角色、轮次和结束标记需要与所用模型匹配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5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5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5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5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5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5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5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35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串接角色内容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5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模板把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System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User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Assistant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以及相应边界标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记连接起来，再交给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5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保留正确结束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5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EOS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EOT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的用途按模型定义，避免重复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添加特殊标记或丢失回答结束。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5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保持入口一致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5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完整训练样本包含回答，生成提示通常停在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Assistant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起始处；两者共用相同角色约定。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35-frame-23"/>
          <p:cNvSpPr>
            <a:spLocks noGrp="1"/>
          </p:cNvSpPr>
          <p:nvPr/>
        </p:nvSpPr>
        <p:spPr>
          <a:xfrm>
            <a:off x="6000750" y="3935095"/>
            <a:ext cx="5657850" cy="61912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</p:sp>
      <p:sp>
        <p:nvSpPr>
          <p:cNvPr id="25" name="35-text-25"/>
          <p:cNvSpPr>
            <a:spLocks noGrp="1"/>
          </p:cNvSpPr>
          <p:nvPr/>
        </p:nvSpPr>
        <p:spPr>
          <a:xfrm>
            <a:off x="6115050" y="4068445"/>
            <a:ext cx="1285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System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35-text-26"/>
          <p:cNvSpPr>
            <a:spLocks noGrp="1"/>
          </p:cNvSpPr>
          <p:nvPr/>
        </p:nvSpPr>
        <p:spPr>
          <a:xfrm>
            <a:off x="7572375" y="4097020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你是一个通用助手。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35-frame-26"/>
          <p:cNvSpPr>
            <a:spLocks noGrp="1"/>
          </p:cNvSpPr>
          <p:nvPr/>
        </p:nvSpPr>
        <p:spPr>
          <a:xfrm>
            <a:off x="6000750" y="4649470"/>
            <a:ext cx="5657850" cy="61912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</p:sp>
      <p:sp>
        <p:nvSpPr>
          <p:cNvPr id="28" name="35-text-28"/>
          <p:cNvSpPr>
            <a:spLocks noGrp="1"/>
          </p:cNvSpPr>
          <p:nvPr/>
        </p:nvSpPr>
        <p:spPr>
          <a:xfrm>
            <a:off x="6115050" y="4782820"/>
            <a:ext cx="1285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35-text-29"/>
          <p:cNvSpPr>
            <a:spLocks noGrp="1"/>
          </p:cNvSpPr>
          <p:nvPr/>
        </p:nvSpPr>
        <p:spPr>
          <a:xfrm>
            <a:off x="7572375" y="4811395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请解释什么是梯度下降。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35-frame-29"/>
          <p:cNvSpPr>
            <a:spLocks noGrp="1"/>
          </p:cNvSpPr>
          <p:nvPr/>
        </p:nvSpPr>
        <p:spPr>
          <a:xfrm>
            <a:off x="6000750" y="5363845"/>
            <a:ext cx="5657850" cy="619125"/>
          </a:xfrm>
          <a:prstGeom prst="rect">
            <a:avLst/>
          </a:prstGeom>
          <a:solidFill>
            <a:srgbClr val="EAF3FC"/>
          </a:solidFill>
          <a:ln w="0">
            <a:noFill/>
          </a:ln>
        </p:spPr>
      </p:sp>
      <p:sp>
        <p:nvSpPr>
          <p:cNvPr id="31" name="35-text-31"/>
          <p:cNvSpPr>
            <a:spLocks noGrp="1"/>
          </p:cNvSpPr>
          <p:nvPr/>
        </p:nvSpPr>
        <p:spPr>
          <a:xfrm>
            <a:off x="6115050" y="5497195"/>
            <a:ext cx="1285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Assistant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35-text-32"/>
          <p:cNvSpPr>
            <a:spLocks noGrp="1"/>
          </p:cNvSpPr>
          <p:nvPr/>
        </p:nvSpPr>
        <p:spPr>
          <a:xfrm>
            <a:off x="7572375" y="5525770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利用梯度迭代优化参数的方法。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35-frame-32"/>
          <p:cNvSpPr>
            <a:spLocks noGrp="1"/>
          </p:cNvSpPr>
          <p:nvPr/>
        </p:nvSpPr>
        <p:spPr>
          <a:xfrm>
            <a:off x="6000750" y="6078220"/>
            <a:ext cx="5657850" cy="61912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</p:sp>
      <p:sp>
        <p:nvSpPr>
          <p:cNvPr id="34" name="35-text-34"/>
          <p:cNvSpPr>
            <a:spLocks noGrp="1"/>
          </p:cNvSpPr>
          <p:nvPr/>
        </p:nvSpPr>
        <p:spPr>
          <a:xfrm>
            <a:off x="6115050" y="6211570"/>
            <a:ext cx="1285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结束标记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35-text-35"/>
          <p:cNvSpPr>
            <a:spLocks noGrp="1"/>
          </p:cNvSpPr>
          <p:nvPr/>
        </p:nvSpPr>
        <p:spPr>
          <a:xfrm>
            <a:off x="7572375" y="6240145"/>
            <a:ext cx="39909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按模型约定使用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EOS / EOT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35-frame-35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7" name="35-text-37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35-text-38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带有角色边界与结束标记的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35-text-39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接下来：决定哪些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位置计算监督损失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835" y="1124585"/>
            <a:ext cx="3782060" cy="245046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36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6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6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6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6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6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6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6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6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4.3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 Mask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：回答怎样成为监督目标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6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提示仍提供上下文，但可以不作为模型必须生成的目标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6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6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6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6-text-14"/>
          <p:cNvSpPr>
            <a:spLocks noGrp="1"/>
          </p:cNvSpPr>
          <p:nvPr/>
        </p:nvSpPr>
        <p:spPr>
          <a:xfrm>
            <a:off x="340852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6-text-15"/>
          <p:cNvSpPr>
            <a:spLocks noGrp="1"/>
          </p:cNvSpPr>
          <p:nvPr/>
        </p:nvSpPr>
        <p:spPr>
          <a:xfrm>
            <a:off x="457295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6-text-16"/>
          <p:cNvSpPr>
            <a:spLocks noGrp="1"/>
          </p:cNvSpPr>
          <p:nvPr/>
        </p:nvSpPr>
        <p:spPr>
          <a:xfrm>
            <a:off x="537543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6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36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输入保持完整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6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系统指令和用户问题进入前向计算，为回答提供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6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标记监督位置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6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常见做法只监督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Assistant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回答，提示与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Padding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标签设为忽略值，如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−100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6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核对边界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6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区分全部助手轮与末轮监督，检查偏移、截断和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EOS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，防止样本没有有效回答标签。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6000750" y="2686050"/>
          <a:ext cx="5657850" cy="2571750"/>
        </p:xfrm>
        <a:graphic>
          <a:graphicData uri="http://schemas.openxmlformats.org/drawingml/2006/table">
            <a:tbl>
              <a:tblPr/>
              <a:tblGrid>
                <a:gridCol w="1485900"/>
                <a:gridCol w="1752600"/>
                <a:gridCol w="24193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输入角色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参与上下文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回答监督示意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System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忽略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User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忽略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Assistant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Loss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Padding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屏蔽填充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忽略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36-text-24"/>
          <p:cNvSpPr>
            <a:spLocks noGrp="1"/>
          </p:cNvSpPr>
          <p:nvPr/>
        </p:nvSpPr>
        <p:spPr>
          <a:xfrm>
            <a:off x="6000750" y="5448300"/>
            <a:ext cx="56578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忽略标签示意：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−100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36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36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36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带有明确回答监督区域的标签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36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接下来：选择本次微调允许更新的参数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37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7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7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7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7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7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7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7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7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4.4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选择更新方式：全参数微调或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PEFT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37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训练数据与目标可以相同，改变的是可训练参数集合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7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7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7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7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7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7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7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graphicFrame>
        <p:nvGraphicFramePr>
          <p:cNvPr id="18" name="表格 17"/>
          <p:cNvGraphicFramePr/>
          <p:nvPr/>
        </p:nvGraphicFramePr>
        <p:xfrm>
          <a:off x="533400" y="2562225"/>
          <a:ext cx="11125200" cy="2524125"/>
        </p:xfrm>
        <a:graphic>
          <a:graphicData uri="http://schemas.openxmlformats.org/drawingml/2006/table">
            <a:tbl>
              <a:tblPr/>
              <a:tblGrid>
                <a:gridCol w="1809750"/>
                <a:gridCol w="2438400"/>
                <a:gridCol w="2667000"/>
                <a:gridCol w="4210050"/>
              </a:tblGrid>
              <a:tr h="631031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方式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基础权重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更新内容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主要存储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631031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全参微调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浮点，可更新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全部或大部分权重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完整新权重与训练状态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LoRA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冻结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低秩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A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矩阵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基座＋适配器训练状态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631031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QLoRA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低位存储并冻结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低秩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A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矩阵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量化基座＋适配器状态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37-text-18"/>
          <p:cNvSpPr>
            <a:spLocks noGrp="1"/>
          </p:cNvSpPr>
          <p:nvPr/>
        </p:nvSpPr>
        <p:spPr>
          <a:xfrm>
            <a:off x="533400" y="54292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选择任一路径后，都回到同一套前向、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Loss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、反向与更新循环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7-frame-18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1" name="37-text-20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7-text-21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明确的冻结参数、可训练参数与保存方案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7-text-22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接下来：展开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LoRA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，再说明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QLoRA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的变化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38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8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8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8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8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8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8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8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8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4.5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LoRA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：冻结原权重，训练低秩增量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8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用较小的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矩阵表示线性层的参数更新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8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8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8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8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8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8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8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38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两条计算路径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8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原始分支计算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Wx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，新增分支计算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(α/r)BAx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，只更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新适配器参数。</a:t>
            </a:r>
            <a:r>
              <a:rPr lang="zh-CN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线性投影矩阵</a:t>
            </a:r>
            <a:endParaRPr lang="zh-CN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8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控制容量与范围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8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Rank r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控制低秩维度，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Alpha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控制缩放，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Dropout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与目标层影响适配方式。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8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保存与复用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8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记录基座版本、目标模块和适配器配置；加载时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组合基座与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Adapter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，合并后重新核验。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38-text-24"/>
          <p:cNvSpPr>
            <a:spLocks noGrp="1"/>
          </p:cNvSpPr>
          <p:nvPr/>
        </p:nvSpPr>
        <p:spPr>
          <a:xfrm>
            <a:off x="6000750" y="2505075"/>
            <a:ext cx="5657850" cy="384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W′ = W + (α / r)BA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910" y="2849880"/>
            <a:ext cx="3892550" cy="2848610"/>
          </a:xfrm>
          <a:prstGeom prst="rect">
            <a:avLst/>
          </a:prstGeom>
        </p:spPr>
      </p:pic>
      <p:sp>
        <p:nvSpPr>
          <p:cNvPr id="26" name="38-text-25"/>
          <p:cNvSpPr>
            <a:spLocks noGrp="1"/>
          </p:cNvSpPr>
          <p:nvPr/>
        </p:nvSpPr>
        <p:spPr>
          <a:xfrm>
            <a:off x="6000750" y="54006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预训练权重冻结，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构成可训练分支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38-frame-25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8" name="38-text-27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38-text-28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训练好的低秩参数及适配器配置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38-text-29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接下来：在相同更新思路下进一步量化基座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7423150" y="14725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C00000"/>
                </a:solidFill>
              </a:rPr>
              <a:t>LoRA</a:t>
            </a:r>
            <a:r>
              <a:rPr lang="zh-CN" altLang="en-US" sz="2800">
                <a:solidFill>
                  <a:srgbClr val="C00000"/>
                </a:solidFill>
                <a:ea typeface="宋体" panose="02010600030101010101" pitchFamily="2" charset="-122"/>
              </a:rPr>
              <a:t>加在哪里？</a:t>
            </a:r>
            <a:endParaRPr lang="zh-CN" altLang="en-US" sz="28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39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39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9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39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39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39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39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39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39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4.6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QLoRA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：量化基座，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训练适配器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39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基座存储位宽与训练计算精度分别定义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39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39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39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39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39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39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39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39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压缩冻结基座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39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基础权重可用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4-bit NF4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存储，使用时按需反量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，基座权重不直接更新。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39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保留浮点训练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39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LoRA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参数参与梯度更新，计算可采用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BF16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等精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度，并非全部运算都变成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4-bit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39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记录量化配置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39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双重量化压缩量化常数，原论文还采用分页优化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器缓解内存尖峰；记录全部兼容配置。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2724745"/>
            <a:ext cx="5657850" cy="2475309"/>
          </a:xfrm>
          <a:prstGeom prst="rect">
            <a:avLst/>
          </a:prstGeom>
        </p:spPr>
      </p:pic>
      <p:sp>
        <p:nvSpPr>
          <p:cNvPr id="25" name="39-text-24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原论文图：全参、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LoRA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QLoRA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的训练状态结构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39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39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39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匹配量化基座的可训练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Adapter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39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接下来：执行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，并比较验证表现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1" name="直接箭头连接符 30"/>
          <p:cNvCxnSpPr>
            <a:stCxn id="26" idx="3"/>
            <a:endCxn id="29" idx="1"/>
          </p:cNvCxnSpPr>
          <p:nvPr/>
        </p:nvCxnSpPr>
        <p:spPr>
          <a:xfrm>
            <a:off x="9686925" y="3619500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8" name="直接箭头连接符 27"/>
          <p:cNvCxnSpPr>
            <a:stCxn id="24" idx="3"/>
            <a:endCxn id="26" idx="1"/>
          </p:cNvCxnSpPr>
          <p:nvPr/>
        </p:nvCxnSpPr>
        <p:spPr>
          <a:xfrm>
            <a:off x="7715250" y="3619500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40" name="40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0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0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0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0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0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0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0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0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4.7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：沿用训练循环，改变监督条件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0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已有权重、对话数据、监督掩码与更新范围共同进入训练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0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0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0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40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0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40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0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40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形成有效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40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模板化对话经过编码、长度处理与标签掩码，确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认仍保留有效回答和结束位置。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0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复用参数更新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0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前向、交叉熵、反向与优化器流程不变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，只对选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定的可训练参数执行更新。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40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重新确定强度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40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学习率、轮数、长度、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Micro Batch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、累积和精度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根据数据与方式调整，以验证集判断。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40-process-23"/>
          <p:cNvSpPr>
            <a:spLocks noGrp="1"/>
          </p:cNvSpPr>
          <p:nvPr/>
        </p:nvSpPr>
        <p:spPr>
          <a:xfrm>
            <a:off x="6000750" y="3143250"/>
            <a:ext cx="1714500" cy="9525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5" name="40-text-25"/>
          <p:cNvSpPr>
            <a:spLocks noGrp="1"/>
          </p:cNvSpPr>
          <p:nvPr/>
        </p:nvSpPr>
        <p:spPr>
          <a:xfrm>
            <a:off x="6115050" y="348138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模板化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Batch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40-process-25"/>
          <p:cNvSpPr>
            <a:spLocks noGrp="1"/>
          </p:cNvSpPr>
          <p:nvPr/>
        </p:nvSpPr>
        <p:spPr>
          <a:xfrm>
            <a:off x="7972425" y="3143250"/>
            <a:ext cx="1714500" cy="9525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7" name="40-text-27"/>
          <p:cNvSpPr>
            <a:spLocks noGrp="1"/>
          </p:cNvSpPr>
          <p:nvPr/>
        </p:nvSpPr>
        <p:spPr>
          <a:xfrm>
            <a:off x="8086725" y="348138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交叉熵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40-process-28"/>
          <p:cNvSpPr>
            <a:spLocks noGrp="1"/>
          </p:cNvSpPr>
          <p:nvPr/>
        </p:nvSpPr>
        <p:spPr>
          <a:xfrm>
            <a:off x="9944100" y="3143250"/>
            <a:ext cx="1714500" cy="9525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0" name="40-text-30"/>
          <p:cNvSpPr>
            <a:spLocks noGrp="1"/>
          </p:cNvSpPr>
          <p:nvPr/>
        </p:nvSpPr>
        <p:spPr>
          <a:xfrm>
            <a:off x="10058400" y="3481388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40-text-32"/>
          <p:cNvSpPr>
            <a:spLocks noGrp="1"/>
          </p:cNvSpPr>
          <p:nvPr/>
        </p:nvSpPr>
        <p:spPr>
          <a:xfrm>
            <a:off x="6000750" y="4524375"/>
            <a:ext cx="5657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输入上下文保留，回答位置贡献损失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40-process-32"/>
          <p:cNvSpPr>
            <a:spLocks noGrp="1"/>
          </p:cNvSpPr>
          <p:nvPr/>
        </p:nvSpPr>
        <p:spPr>
          <a:xfrm>
            <a:off x="6429375" y="5048250"/>
            <a:ext cx="4800600" cy="619125"/>
          </a:xfrm>
          <a:prstGeom prst="rect">
            <a:avLst/>
          </a:prstGeom>
          <a:solidFill>
            <a:srgbClr val="1668B8"/>
          </a:solidFill>
          <a:ln w="9525">
            <a:solidFill>
              <a:srgbClr val="CDDDEB"/>
            </a:solidFill>
          </a:ln>
        </p:spPr>
      </p:sp>
      <p:sp>
        <p:nvSpPr>
          <p:cNvPr id="34" name="40-text-34"/>
          <p:cNvSpPr>
            <a:spLocks noGrp="1"/>
          </p:cNvSpPr>
          <p:nvPr/>
        </p:nvSpPr>
        <p:spPr>
          <a:xfrm>
            <a:off x="6543675" y="521970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只更新选定的可训练参数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40-frame-3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6" name="40-text-3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40-text-3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检查点与训练、验证记录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40-text-3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接下来：选出满足指令任务要求的版本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图片 4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41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1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1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1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1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1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1-text-7"/>
          <p:cNvSpPr>
            <a:spLocks noGrp="1"/>
          </p:cNvSpPr>
          <p:nvPr/>
        </p:nvSpPr>
        <p:spPr>
          <a:xfrm>
            <a:off x="507377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1-text-8"/>
          <p:cNvSpPr>
            <a:spLocks noGrp="1"/>
          </p:cNvSpPr>
          <p:nvPr/>
        </p:nvSpPr>
        <p:spPr>
          <a:xfrm>
            <a:off x="6693027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1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4.8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验收：指令模型是否真正改善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1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评估任务收益，同时检查原有能力和停止行为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1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1-text-12"/>
          <p:cNvSpPr>
            <a:spLocks noGrp="1"/>
          </p:cNvSpPr>
          <p:nvPr/>
        </p:nvSpPr>
        <p:spPr>
          <a:xfrm>
            <a:off x="133588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1-text-13"/>
          <p:cNvSpPr>
            <a:spLocks noGrp="1"/>
          </p:cNvSpPr>
          <p:nvPr/>
        </p:nvSpPr>
        <p:spPr>
          <a:xfrm>
            <a:off x="21383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Loss Mask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41-text-14"/>
          <p:cNvSpPr>
            <a:spLocks noGrp="1"/>
          </p:cNvSpPr>
          <p:nvPr/>
        </p:nvSpPr>
        <p:spPr>
          <a:xfrm>
            <a:off x="33682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更新方式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1-text-15"/>
          <p:cNvSpPr>
            <a:spLocks noGrp="1"/>
          </p:cNvSpPr>
          <p:nvPr/>
        </p:nvSpPr>
        <p:spPr>
          <a:xfrm>
            <a:off x="4532662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41-text-16"/>
          <p:cNvSpPr>
            <a:spLocks noGrp="1"/>
          </p:cNvSpPr>
          <p:nvPr/>
        </p:nvSpPr>
        <p:spPr>
          <a:xfrm>
            <a:off x="533514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1-frame-16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8" name="41-text-18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检查目标行为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41-text-19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比较指令满足率、答案正确性、格式、上下文使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用和多轮一致性。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1-text-20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检查常见退化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1-text-21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关注重复问题、乱码、缺失结束、过拟合和通用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能力下降，回看模板、标签与数据。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41-text-22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选定阶段产物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41-text-23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用独立验证确定版本，保存完整权重或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Adapter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其匹配基座和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Tokenizer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080" y="2038350"/>
            <a:ext cx="4728210" cy="3409950"/>
          </a:xfrm>
          <a:prstGeom prst="rect">
            <a:avLst/>
          </a:prstGeom>
        </p:spPr>
      </p:pic>
      <p:sp>
        <p:nvSpPr>
          <p:cNvPr id="25" name="41-text-24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指令微调后提取回答并进行评分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41-frame-2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7" name="41-text-2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41-text-2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通过验收的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Instruction Model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Adapter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41-text-2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接下来：需要进一步改善回答偏好时，进入可选对齐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4" name="肘形连接符 33"/>
          <p:cNvCxnSpPr>
            <a:stCxn id="28" idx="3"/>
            <a:endCxn id="13" idx="1"/>
          </p:cNvCxnSpPr>
          <p:nvPr/>
        </p:nvCxnSpPr>
        <p:spPr>
          <a:xfrm flipV="1">
            <a:off x="9324975" y="3852863"/>
            <a:ext cx="771525" cy="1047750"/>
          </a:xfrm>
          <a:prstGeom prst="bentConnector3">
            <a:avLst>
              <a:gd name="adj1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3" name="肘形连接符 32"/>
          <p:cNvCxnSpPr>
            <a:stCxn id="20" idx="3"/>
            <a:endCxn id="13" idx="1"/>
          </p:cNvCxnSpPr>
          <p:nvPr/>
        </p:nvCxnSpPr>
        <p:spPr>
          <a:xfrm>
            <a:off x="9324975" y="2928938"/>
            <a:ext cx="771525" cy="923925"/>
          </a:xfrm>
          <a:prstGeom prst="bentConnector3">
            <a:avLst>
              <a:gd name="adj1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2" name="肘形连接符 31"/>
          <p:cNvCxnSpPr>
            <a:stCxn id="11" idx="3"/>
            <a:endCxn id="23" idx="1"/>
          </p:cNvCxnSpPr>
          <p:nvPr/>
        </p:nvCxnSpPr>
        <p:spPr>
          <a:xfrm>
            <a:off x="2076450" y="3852863"/>
            <a:ext cx="704850" cy="1047750"/>
          </a:xfrm>
          <a:prstGeom prst="bentConnector3">
            <a:avLst>
              <a:gd name="adj1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1" name="肘形连接符 30"/>
          <p:cNvCxnSpPr>
            <a:stCxn id="11" idx="3"/>
            <a:endCxn id="15" idx="1"/>
          </p:cNvCxnSpPr>
          <p:nvPr/>
        </p:nvCxnSpPr>
        <p:spPr>
          <a:xfrm flipV="1">
            <a:off x="2076450" y="2928938"/>
            <a:ext cx="704850" cy="923925"/>
          </a:xfrm>
          <a:prstGeom prst="bentConnector3">
            <a:avLst>
              <a:gd name="adj1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0" name="直接箭头连接符 29"/>
          <p:cNvCxnSpPr>
            <a:stCxn id="25" idx="3"/>
            <a:endCxn id="28" idx="1"/>
          </p:cNvCxnSpPr>
          <p:nvPr/>
        </p:nvCxnSpPr>
        <p:spPr>
          <a:xfrm>
            <a:off x="7058025" y="4900613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7" name="直接箭头连接符 26"/>
          <p:cNvCxnSpPr>
            <a:stCxn id="23" idx="3"/>
            <a:endCxn id="25" idx="1"/>
          </p:cNvCxnSpPr>
          <p:nvPr/>
        </p:nvCxnSpPr>
        <p:spPr>
          <a:xfrm>
            <a:off x="4791075" y="4900613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2" name="直接箭头连接符 21"/>
          <p:cNvCxnSpPr>
            <a:stCxn id="17" idx="3"/>
            <a:endCxn id="20" idx="1"/>
          </p:cNvCxnSpPr>
          <p:nvPr/>
        </p:nvCxnSpPr>
        <p:spPr>
          <a:xfrm>
            <a:off x="7058025" y="2928938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19" name="直接箭头连接符 18"/>
          <p:cNvCxnSpPr>
            <a:stCxn id="15" idx="3"/>
            <a:endCxn id="17" idx="1"/>
          </p:cNvCxnSpPr>
          <p:nvPr/>
        </p:nvCxnSpPr>
        <p:spPr>
          <a:xfrm>
            <a:off x="4791075" y="2928938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43" name="42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2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2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2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2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2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2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2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2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偏好对齐：优化回答倾向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2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从指令模型出发，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RLHF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是不同训练路线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2-process-10"/>
          <p:cNvSpPr>
            <a:spLocks noGrp="1"/>
          </p:cNvSpPr>
          <p:nvPr/>
        </p:nvSpPr>
        <p:spPr>
          <a:xfrm>
            <a:off x="533400" y="3448050"/>
            <a:ext cx="1543050" cy="809625"/>
          </a:xfrm>
          <a:prstGeom prst="rect">
            <a:avLst/>
          </a:prstGeom>
          <a:solidFill>
            <a:srgbClr val="1668B8"/>
          </a:solidFill>
          <a:ln w="9525">
            <a:solidFill>
              <a:srgbClr val="CDDDEB"/>
            </a:solidFill>
          </a:ln>
        </p:spPr>
      </p:sp>
      <p:sp>
        <p:nvSpPr>
          <p:cNvPr id="12" name="42-text-12"/>
          <p:cNvSpPr>
            <a:spLocks noGrp="1"/>
          </p:cNvSpPr>
          <p:nvPr/>
        </p:nvSpPr>
        <p:spPr>
          <a:xfrm>
            <a:off x="647700" y="3714750"/>
            <a:ext cx="13144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2-process-12"/>
          <p:cNvSpPr>
            <a:spLocks noGrp="1"/>
          </p:cNvSpPr>
          <p:nvPr/>
        </p:nvSpPr>
        <p:spPr>
          <a:xfrm>
            <a:off x="10096500" y="3448050"/>
            <a:ext cx="1562100" cy="809625"/>
          </a:xfrm>
          <a:prstGeom prst="rect">
            <a:avLst/>
          </a:prstGeom>
          <a:solidFill>
            <a:srgbClr val="1668B8"/>
          </a:solidFill>
          <a:ln w="9525">
            <a:solidFill>
              <a:srgbClr val="CDDDEB"/>
            </a:solidFill>
          </a:ln>
        </p:spPr>
      </p:sp>
      <p:sp>
        <p:nvSpPr>
          <p:cNvPr id="14" name="42-text-14"/>
          <p:cNvSpPr>
            <a:spLocks noGrp="1"/>
          </p:cNvSpPr>
          <p:nvPr/>
        </p:nvSpPr>
        <p:spPr>
          <a:xfrm>
            <a:off x="10210800" y="37147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对齐后模型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2-process-14"/>
          <p:cNvSpPr>
            <a:spLocks noGrp="1"/>
          </p:cNvSpPr>
          <p:nvPr/>
        </p:nvSpPr>
        <p:spPr>
          <a:xfrm>
            <a:off x="2781300" y="2524125"/>
            <a:ext cx="2009775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6" name="42-text-16"/>
          <p:cNvSpPr>
            <a:spLocks noGrp="1"/>
          </p:cNvSpPr>
          <p:nvPr/>
        </p:nvSpPr>
        <p:spPr>
          <a:xfrm>
            <a:off x="2895600" y="2790825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2-process-16"/>
          <p:cNvSpPr>
            <a:spLocks noGrp="1"/>
          </p:cNvSpPr>
          <p:nvPr/>
        </p:nvSpPr>
        <p:spPr>
          <a:xfrm>
            <a:off x="5048250" y="2524125"/>
            <a:ext cx="2009775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8" name="42-text-18"/>
          <p:cNvSpPr>
            <a:spLocks noGrp="1"/>
          </p:cNvSpPr>
          <p:nvPr/>
        </p:nvSpPr>
        <p:spPr>
          <a:xfrm>
            <a:off x="5162550" y="2790825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训练奖励模型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2-process-19"/>
          <p:cNvSpPr>
            <a:spLocks noGrp="1"/>
          </p:cNvSpPr>
          <p:nvPr/>
        </p:nvSpPr>
        <p:spPr>
          <a:xfrm>
            <a:off x="7315200" y="2524125"/>
            <a:ext cx="2009775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1" name="42-text-21"/>
          <p:cNvSpPr>
            <a:spLocks noGrp="1"/>
          </p:cNvSpPr>
          <p:nvPr/>
        </p:nvSpPr>
        <p:spPr>
          <a:xfrm>
            <a:off x="7429500" y="2790825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42-process-22"/>
          <p:cNvSpPr>
            <a:spLocks noGrp="1"/>
          </p:cNvSpPr>
          <p:nvPr/>
        </p:nvSpPr>
        <p:spPr>
          <a:xfrm>
            <a:off x="2781300" y="4495800"/>
            <a:ext cx="2009775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4" name="42-text-24"/>
          <p:cNvSpPr>
            <a:spLocks noGrp="1"/>
          </p:cNvSpPr>
          <p:nvPr/>
        </p:nvSpPr>
        <p:spPr>
          <a:xfrm>
            <a:off x="2895600" y="4762500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42-process-24"/>
          <p:cNvSpPr>
            <a:spLocks noGrp="1"/>
          </p:cNvSpPr>
          <p:nvPr/>
        </p:nvSpPr>
        <p:spPr>
          <a:xfrm>
            <a:off x="5048250" y="4495800"/>
            <a:ext cx="2009775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6" name="42-text-26"/>
          <p:cNvSpPr>
            <a:spLocks noGrp="1"/>
          </p:cNvSpPr>
          <p:nvPr/>
        </p:nvSpPr>
        <p:spPr>
          <a:xfrm>
            <a:off x="5162550" y="4762500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策略与参考模型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42-process-27"/>
          <p:cNvSpPr>
            <a:spLocks noGrp="1"/>
          </p:cNvSpPr>
          <p:nvPr/>
        </p:nvSpPr>
        <p:spPr>
          <a:xfrm>
            <a:off x="7315200" y="4495800"/>
            <a:ext cx="2009775" cy="8096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9" name="42-text-29"/>
          <p:cNvSpPr>
            <a:spLocks noGrp="1"/>
          </p:cNvSpPr>
          <p:nvPr/>
        </p:nvSpPr>
        <p:spPr>
          <a:xfrm>
            <a:off x="7429500" y="4762500"/>
            <a:ext cx="1781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 Loss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42-text-35"/>
          <p:cNvSpPr>
            <a:spLocks noGrp="1"/>
          </p:cNvSpPr>
          <p:nvPr/>
        </p:nvSpPr>
        <p:spPr>
          <a:xfrm>
            <a:off x="2781300" y="2095500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RLHF</a:t>
            </a:r>
            <a:endParaRPr b="1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42-text-36"/>
          <p:cNvSpPr>
            <a:spLocks noGrp="1"/>
          </p:cNvSpPr>
          <p:nvPr/>
        </p:nvSpPr>
        <p:spPr>
          <a:xfrm>
            <a:off x="2781300" y="4048125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</a:t>
            </a:r>
            <a:endParaRPr b="1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42-text-37"/>
          <p:cNvSpPr>
            <a:spLocks noGrp="1"/>
          </p:cNvSpPr>
          <p:nvPr/>
        </p:nvSpPr>
        <p:spPr>
          <a:xfrm>
            <a:off x="2781300" y="5534025"/>
            <a:ext cx="88106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GRPO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：另一种采样式策略优化方法，后续简要定位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42-frame-37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9" name="42-text-39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42-text-40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通过独立偏好与能力检查的模型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42-text-41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接下来：先看两条路线共同使用的偏好信息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" name="图片 43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43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3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3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3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3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3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3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3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3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偏好数据：同一问题，哪个回答更好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3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一条相对比较表达希望模型偏向怎样的回答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3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偏好数据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3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选择路线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3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优化模型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43-text-14"/>
          <p:cNvSpPr>
            <a:spLocks noGrp="1"/>
          </p:cNvSpPr>
          <p:nvPr/>
        </p:nvSpPr>
        <p:spPr>
          <a:xfrm>
            <a:off x="402669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3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43-text-16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样本结构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3-text-17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Prompt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Chosen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Rejected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，两份回答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必须基于相同有效上下文。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43-text-18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形成可靠标签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43-text-19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依据正确性、帮助性、事实性和安全准则标注，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记录分歧，检查一致性。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3-text-20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两条使用路径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3-text-21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路线用偏好训练奖励模型，</a:t>
            </a:r>
            <a:r>
              <a:rPr b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 </a:t>
            </a: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直接把偏好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对用于策略损失。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43-text-22"/>
          <p:cNvSpPr>
            <a:spLocks noGrp="1"/>
          </p:cNvSpPr>
          <p:nvPr/>
        </p:nvSpPr>
        <p:spPr>
          <a:xfrm>
            <a:off x="6000750" y="2667000"/>
            <a:ext cx="56578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Prompt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：请解释梯度下降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43-frame-22"/>
          <p:cNvSpPr>
            <a:spLocks noGrp="1"/>
          </p:cNvSpPr>
          <p:nvPr/>
        </p:nvSpPr>
        <p:spPr>
          <a:xfrm>
            <a:off x="6000750" y="3257550"/>
            <a:ext cx="5657850" cy="904875"/>
          </a:xfrm>
          <a:prstGeom prst="rect">
            <a:avLst/>
          </a:prstGeom>
          <a:solidFill>
            <a:srgbClr val="EAF3FC"/>
          </a:solidFill>
          <a:ln w="0">
            <a:noFill/>
          </a:ln>
        </p:spPr>
      </p:sp>
      <p:sp>
        <p:nvSpPr>
          <p:cNvPr id="24" name="43-text-24"/>
          <p:cNvSpPr>
            <a:spLocks noGrp="1"/>
          </p:cNvSpPr>
          <p:nvPr/>
        </p:nvSpPr>
        <p:spPr>
          <a:xfrm>
            <a:off x="6134100" y="335280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Chosen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43-text-25"/>
          <p:cNvSpPr>
            <a:spLocks noGrp="1"/>
          </p:cNvSpPr>
          <p:nvPr/>
        </p:nvSpPr>
        <p:spPr>
          <a:xfrm>
            <a:off x="6134100" y="3686175"/>
            <a:ext cx="5391150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根据损失的梯度，沿负梯度方向迭代更新参数。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43-frame-25"/>
          <p:cNvSpPr>
            <a:spLocks noGrp="1"/>
          </p:cNvSpPr>
          <p:nvPr/>
        </p:nvSpPr>
        <p:spPr>
          <a:xfrm>
            <a:off x="6000750" y="4381500"/>
            <a:ext cx="5657850" cy="90487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</p:sp>
      <p:sp>
        <p:nvSpPr>
          <p:cNvPr id="27" name="43-text-27"/>
          <p:cNvSpPr>
            <a:spLocks noGrp="1"/>
          </p:cNvSpPr>
          <p:nvPr/>
        </p:nvSpPr>
        <p:spPr>
          <a:xfrm>
            <a:off x="6134100" y="44767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Rejected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43-text-28"/>
          <p:cNvSpPr>
            <a:spLocks noGrp="1"/>
          </p:cNvSpPr>
          <p:nvPr/>
        </p:nvSpPr>
        <p:spPr>
          <a:xfrm>
            <a:off x="6134100" y="4810125"/>
            <a:ext cx="5391150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梯度下降就是把数字变小。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43-text-29"/>
          <p:cNvSpPr>
            <a:spLocks noGrp="1"/>
          </p:cNvSpPr>
          <p:nvPr/>
        </p:nvSpPr>
        <p:spPr>
          <a:xfrm>
            <a:off x="6000750" y="5457825"/>
            <a:ext cx="56578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概念示例，不代表真实标注数据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43-frame-29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1" name="43-text-31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43-text-32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可追溯的回答偏好对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43-text-33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接下来：先展开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RLHF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的完整链路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8" name="直接箭头连接符 37"/>
          <p:cNvCxnSpPr>
            <a:stCxn id="31" idx="3"/>
            <a:endCxn id="35" idx="1"/>
          </p:cNvCxnSpPr>
          <p:nvPr/>
        </p:nvCxnSpPr>
        <p:spPr>
          <a:xfrm>
            <a:off x="8813007" y="4738688"/>
            <a:ext cx="257174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4" name="直接箭头连接符 33"/>
          <p:cNvCxnSpPr>
            <a:stCxn id="27" idx="3"/>
            <a:endCxn id="31" idx="1"/>
          </p:cNvCxnSpPr>
          <p:nvPr/>
        </p:nvCxnSpPr>
        <p:spPr>
          <a:xfrm>
            <a:off x="5967413" y="4738688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30" name="直接箭头连接符 29"/>
          <p:cNvCxnSpPr>
            <a:stCxn id="24" idx="3"/>
            <a:endCxn id="27" idx="1"/>
          </p:cNvCxnSpPr>
          <p:nvPr/>
        </p:nvCxnSpPr>
        <p:spPr>
          <a:xfrm>
            <a:off x="3121819" y="4738688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2" name="直接箭头连接符 21"/>
          <p:cNvCxnSpPr>
            <a:stCxn id="15" idx="3"/>
            <a:endCxn id="19" idx="1"/>
          </p:cNvCxnSpPr>
          <p:nvPr/>
        </p:nvCxnSpPr>
        <p:spPr>
          <a:xfrm>
            <a:off x="7864475" y="290512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2" idx="3"/>
            <a:endCxn id="15" idx="1"/>
          </p:cNvCxnSpPr>
          <p:nvPr/>
        </p:nvCxnSpPr>
        <p:spPr>
          <a:xfrm>
            <a:off x="4070350" y="2905125"/>
            <a:ext cx="257175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45" name="44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4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4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4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4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4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4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4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4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5.2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RLHF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：奖励模型连接偏好与策略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4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先训练奖励模型，再反复采样回答、计算信号、更新策略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4-text-11"/>
          <p:cNvSpPr>
            <a:spLocks noGrp="1"/>
          </p:cNvSpPr>
          <p:nvPr/>
        </p:nvSpPr>
        <p:spPr>
          <a:xfrm>
            <a:off x="533400" y="2000250"/>
            <a:ext cx="111252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第一段：学习并固定奖励模型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4-process-11"/>
          <p:cNvSpPr>
            <a:spLocks noGrp="1"/>
          </p:cNvSpPr>
          <p:nvPr/>
        </p:nvSpPr>
        <p:spPr>
          <a:xfrm>
            <a:off x="533400" y="2476500"/>
            <a:ext cx="3536950" cy="8572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3" name="44-text-13"/>
          <p:cNvSpPr>
            <a:spLocks noGrp="1"/>
          </p:cNvSpPr>
          <p:nvPr/>
        </p:nvSpPr>
        <p:spPr>
          <a:xfrm>
            <a:off x="647700" y="2609850"/>
            <a:ext cx="33083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44-text-14"/>
          <p:cNvSpPr>
            <a:spLocks noGrp="1"/>
          </p:cNvSpPr>
          <p:nvPr/>
        </p:nvSpPr>
        <p:spPr>
          <a:xfrm>
            <a:off x="628650" y="2905125"/>
            <a:ext cx="3346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同题的优选与劣选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4-process-14"/>
          <p:cNvSpPr>
            <a:spLocks noGrp="1"/>
          </p:cNvSpPr>
          <p:nvPr/>
        </p:nvSpPr>
        <p:spPr>
          <a:xfrm>
            <a:off x="4327525" y="2476500"/>
            <a:ext cx="3536950" cy="8572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6" name="44-text-16"/>
          <p:cNvSpPr>
            <a:spLocks noGrp="1"/>
          </p:cNvSpPr>
          <p:nvPr/>
        </p:nvSpPr>
        <p:spPr>
          <a:xfrm>
            <a:off x="4441825" y="2609850"/>
            <a:ext cx="33083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训练奖励模型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4-text-17"/>
          <p:cNvSpPr>
            <a:spLocks noGrp="1"/>
          </p:cNvSpPr>
          <p:nvPr/>
        </p:nvSpPr>
        <p:spPr>
          <a:xfrm>
            <a:off x="4422775" y="2905125"/>
            <a:ext cx="3346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学习回答评分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44-process-18"/>
          <p:cNvSpPr>
            <a:spLocks noGrp="1"/>
          </p:cNvSpPr>
          <p:nvPr/>
        </p:nvSpPr>
        <p:spPr>
          <a:xfrm>
            <a:off x="8121650" y="2476500"/>
            <a:ext cx="3536950" cy="8572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0" name="44-text-20"/>
          <p:cNvSpPr>
            <a:spLocks noGrp="1"/>
          </p:cNvSpPr>
          <p:nvPr/>
        </p:nvSpPr>
        <p:spPr>
          <a:xfrm>
            <a:off x="8235950" y="2609850"/>
            <a:ext cx="33083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固定奖励模型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4-text-21"/>
          <p:cNvSpPr>
            <a:spLocks noGrp="1"/>
          </p:cNvSpPr>
          <p:nvPr/>
        </p:nvSpPr>
        <p:spPr>
          <a:xfrm>
            <a:off x="8216900" y="2905125"/>
            <a:ext cx="3346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供策略训练打分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44-text-23"/>
          <p:cNvSpPr>
            <a:spLocks noGrp="1"/>
          </p:cNvSpPr>
          <p:nvPr/>
        </p:nvSpPr>
        <p:spPr>
          <a:xfrm>
            <a:off x="533400" y="3705225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第二段：反复采样并更新策略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44-process-23"/>
          <p:cNvSpPr>
            <a:spLocks noGrp="1"/>
          </p:cNvSpPr>
          <p:nvPr/>
        </p:nvSpPr>
        <p:spPr>
          <a:xfrm>
            <a:off x="533400" y="4238625"/>
            <a:ext cx="2588419" cy="10001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5" name="44-text-25"/>
          <p:cNvSpPr>
            <a:spLocks noGrp="1"/>
          </p:cNvSpPr>
          <p:nvPr/>
        </p:nvSpPr>
        <p:spPr>
          <a:xfrm>
            <a:off x="647700" y="4371975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策略生成回答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44-text-26"/>
          <p:cNvSpPr>
            <a:spLocks noGrp="1"/>
          </p:cNvSpPr>
          <p:nvPr/>
        </p:nvSpPr>
        <p:spPr>
          <a:xfrm>
            <a:off x="628650" y="4667250"/>
            <a:ext cx="2397919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SFT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44-process-26"/>
          <p:cNvSpPr>
            <a:spLocks noGrp="1"/>
          </p:cNvSpPr>
          <p:nvPr/>
        </p:nvSpPr>
        <p:spPr>
          <a:xfrm>
            <a:off x="3378994" y="4238625"/>
            <a:ext cx="2588419" cy="10001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8" name="44-text-28"/>
          <p:cNvSpPr>
            <a:spLocks noGrp="1"/>
          </p:cNvSpPr>
          <p:nvPr/>
        </p:nvSpPr>
        <p:spPr>
          <a:xfrm>
            <a:off x="3493294" y="4371975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奖励与偏离信号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44-text-29"/>
          <p:cNvSpPr>
            <a:spLocks noGrp="1"/>
          </p:cNvSpPr>
          <p:nvPr/>
        </p:nvSpPr>
        <p:spPr>
          <a:xfrm>
            <a:off x="3474244" y="4667250"/>
            <a:ext cx="2397919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奖励模型＋参考模型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44-process-30"/>
          <p:cNvSpPr>
            <a:spLocks noGrp="1"/>
          </p:cNvSpPr>
          <p:nvPr/>
        </p:nvSpPr>
        <p:spPr>
          <a:xfrm>
            <a:off x="6224588" y="4238625"/>
            <a:ext cx="2588419" cy="10001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2" name="44-text-32"/>
          <p:cNvSpPr>
            <a:spLocks noGrp="1"/>
          </p:cNvSpPr>
          <p:nvPr/>
        </p:nvSpPr>
        <p:spPr>
          <a:xfrm>
            <a:off x="6338888" y="4371975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优势估计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44-text-33"/>
          <p:cNvSpPr>
            <a:spLocks noGrp="1"/>
          </p:cNvSpPr>
          <p:nvPr/>
        </p:nvSpPr>
        <p:spPr>
          <a:xfrm>
            <a:off x="6319838" y="4667250"/>
            <a:ext cx="2397919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结合价值模型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44-process-34"/>
          <p:cNvSpPr>
            <a:spLocks noGrp="1"/>
          </p:cNvSpPr>
          <p:nvPr/>
        </p:nvSpPr>
        <p:spPr>
          <a:xfrm>
            <a:off x="9070181" y="4238625"/>
            <a:ext cx="2588419" cy="1000125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36" name="44-text-36"/>
          <p:cNvSpPr>
            <a:spLocks noGrp="1"/>
          </p:cNvSpPr>
          <p:nvPr/>
        </p:nvSpPr>
        <p:spPr>
          <a:xfrm>
            <a:off x="9184481" y="4371975"/>
            <a:ext cx="235981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44-text-37"/>
          <p:cNvSpPr>
            <a:spLocks noGrp="1"/>
          </p:cNvSpPr>
          <p:nvPr/>
        </p:nvSpPr>
        <p:spPr>
          <a:xfrm>
            <a:off x="9165431" y="4667250"/>
            <a:ext cx="2397919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约束策略变化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44-text-39"/>
          <p:cNvSpPr>
            <a:spLocks noGrp="1"/>
          </p:cNvSpPr>
          <p:nvPr/>
        </p:nvSpPr>
        <p:spPr>
          <a:xfrm>
            <a:off x="533400" y="5514975"/>
            <a:ext cx="11125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更新后的策略重新采样，进入下一轮；奖励模型与参考模型通常保持冻结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44-frame-39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41" name="44-text-41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44-text-42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经过奖励引导与更新约束的策略模型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44-text-43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接下来：沿着采样、评分、优势与更新依次展开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图片 45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45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5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5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5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5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5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5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5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5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5.3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更新：回答变成策略梯度信号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5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奖励指示表现，优势与约束控制每轮更新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5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5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选择路线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5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45-text-14"/>
          <p:cNvSpPr>
            <a:spLocks noGrp="1"/>
          </p:cNvSpPr>
          <p:nvPr/>
        </p:nvSpPr>
        <p:spPr>
          <a:xfrm>
            <a:off x="402669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5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45-text-16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采样与评分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5-text-17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策略对提示生成回答，奖励模型打分，并结合参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考策略的偏离惩罚形成训练信号。</a:t>
            </a:r>
            <a:endParaRPr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45-text-18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估计优势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45-text-19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价值模型估计预期回报，优势描述本次行为相对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预期的好坏，指导提高或降低其概率。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5-text-20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约束后更新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5-text-21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用新旧策略概率比和裁剪限制更新，再重新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采样；同步学习价值估计。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45-frame-2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6" name="45-text-2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45-text-2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完成一轮受约束的策略与价值更新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45-text-2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接下来：再看不单独训练奖励模型的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01165"/>
            <a:ext cx="5082540" cy="474154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0" name="直接箭头连接符 29"/>
          <p:cNvCxnSpPr>
            <a:stCxn id="20" idx="3"/>
            <a:endCxn id="23" idx="1"/>
          </p:cNvCxnSpPr>
          <p:nvPr/>
        </p:nvCxnSpPr>
        <p:spPr>
          <a:xfrm>
            <a:off x="9239250" y="3829050"/>
            <a:ext cx="742950" cy="0"/>
          </a:xfrm>
          <a:prstGeom prst="straightConnector1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9" name="肘形连接符 28"/>
          <p:cNvCxnSpPr>
            <a:stCxn id="17" idx="3"/>
            <a:endCxn id="20" idx="2"/>
          </p:cNvCxnSpPr>
          <p:nvPr/>
        </p:nvCxnSpPr>
        <p:spPr>
          <a:xfrm flipV="1">
            <a:off x="6143625" y="4276725"/>
            <a:ext cx="1952625" cy="571500"/>
          </a:xfrm>
          <a:prstGeom prst="bentConnector2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8" name="肘形连接符 27"/>
          <p:cNvCxnSpPr>
            <a:stCxn id="14" idx="3"/>
            <a:endCxn id="20" idx="0"/>
          </p:cNvCxnSpPr>
          <p:nvPr/>
        </p:nvCxnSpPr>
        <p:spPr>
          <a:xfrm>
            <a:off x="6143625" y="2895600"/>
            <a:ext cx="1952625" cy="485775"/>
          </a:xfrm>
          <a:prstGeom prst="bentConnector2">
            <a:avLst/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7" name="肘形连接符 26"/>
          <p:cNvCxnSpPr>
            <a:stCxn id="11" idx="3"/>
            <a:endCxn id="17" idx="1"/>
          </p:cNvCxnSpPr>
          <p:nvPr/>
        </p:nvCxnSpPr>
        <p:spPr>
          <a:xfrm>
            <a:off x="2628900" y="3829050"/>
            <a:ext cx="847725" cy="1019175"/>
          </a:xfrm>
          <a:prstGeom prst="bentConnector3">
            <a:avLst>
              <a:gd name="adj1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cxnSp>
        <p:nvCxnSpPr>
          <p:cNvPr id="26" name="肘形连接符 25"/>
          <p:cNvCxnSpPr>
            <a:stCxn id="11" idx="3"/>
            <a:endCxn id="14" idx="1"/>
          </p:cNvCxnSpPr>
          <p:nvPr/>
        </p:nvCxnSpPr>
        <p:spPr>
          <a:xfrm flipV="1">
            <a:off x="2628900" y="2895600"/>
            <a:ext cx="847725" cy="933450"/>
          </a:xfrm>
          <a:prstGeom prst="bentConnector3">
            <a:avLst>
              <a:gd name="adj1" fmla="val 50000"/>
            </a:avLst>
          </a:prstGeom>
          <a:ln w="19050">
            <a:solidFill>
              <a:srgbClr val="1668B8"/>
            </a:solidFill>
            <a:tailEnd type="triangle" w="med" len="med"/>
          </a:ln>
        </p:spPr>
      </p:cxnSp>
      <p:sp>
        <p:nvSpPr>
          <p:cNvPr id="37" name="46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6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6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6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6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6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6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6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6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5.4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：直接用偏好对更新策略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6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把偏好比较转成损失，省去单独训练显式奖励模型的阶段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6-process-10"/>
          <p:cNvSpPr>
            <a:spLocks noGrp="1"/>
          </p:cNvSpPr>
          <p:nvPr/>
        </p:nvSpPr>
        <p:spPr>
          <a:xfrm>
            <a:off x="533400" y="3381375"/>
            <a:ext cx="2095500" cy="8953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2" name="46-text-12"/>
          <p:cNvSpPr>
            <a:spLocks noGrp="1"/>
          </p:cNvSpPr>
          <p:nvPr/>
        </p:nvSpPr>
        <p:spPr>
          <a:xfrm>
            <a:off x="647700" y="3514725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Prompt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与偏好对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6-text-13"/>
          <p:cNvSpPr>
            <a:spLocks noGrp="1"/>
          </p:cNvSpPr>
          <p:nvPr/>
        </p:nvSpPr>
        <p:spPr>
          <a:xfrm>
            <a:off x="628650" y="3810000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Chosen / Rejected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46-process-13"/>
          <p:cNvSpPr>
            <a:spLocks noGrp="1"/>
          </p:cNvSpPr>
          <p:nvPr/>
        </p:nvSpPr>
        <p:spPr>
          <a:xfrm>
            <a:off x="3476625" y="2476500"/>
            <a:ext cx="2667000" cy="838200"/>
          </a:xfrm>
          <a:prstGeom prst="rect">
            <a:avLst/>
          </a:prstGeom>
          <a:solidFill>
            <a:srgbClr val="1668B8"/>
          </a:solidFill>
          <a:ln w="9525">
            <a:solidFill>
              <a:srgbClr val="CDDDEB"/>
            </a:solidFill>
          </a:ln>
        </p:spPr>
      </p:sp>
      <p:sp>
        <p:nvSpPr>
          <p:cNvPr id="15" name="46-text-15"/>
          <p:cNvSpPr>
            <a:spLocks noGrp="1"/>
          </p:cNvSpPr>
          <p:nvPr/>
        </p:nvSpPr>
        <p:spPr>
          <a:xfrm>
            <a:off x="3590925" y="2609850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待训练策略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πθ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46-text-16"/>
          <p:cNvSpPr>
            <a:spLocks noGrp="1"/>
          </p:cNvSpPr>
          <p:nvPr/>
        </p:nvSpPr>
        <p:spPr>
          <a:xfrm>
            <a:off x="3571875" y="29051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计算两份回答对数概率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6-process-16"/>
          <p:cNvSpPr>
            <a:spLocks noGrp="1"/>
          </p:cNvSpPr>
          <p:nvPr/>
        </p:nvSpPr>
        <p:spPr>
          <a:xfrm>
            <a:off x="3476625" y="4429125"/>
            <a:ext cx="2667000" cy="83820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18" name="46-text-18"/>
          <p:cNvSpPr>
            <a:spLocks noGrp="1"/>
          </p:cNvSpPr>
          <p:nvPr/>
        </p:nvSpPr>
        <p:spPr>
          <a:xfrm>
            <a:off x="3590925" y="4562475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冻结参考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πref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46-text-19"/>
          <p:cNvSpPr>
            <a:spLocks noGrp="1"/>
          </p:cNvSpPr>
          <p:nvPr/>
        </p:nvSpPr>
        <p:spPr>
          <a:xfrm>
            <a:off x="3571875" y="48577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计算同样回答的对数概率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6-process-19"/>
          <p:cNvSpPr>
            <a:spLocks noGrp="1"/>
          </p:cNvSpPr>
          <p:nvPr/>
        </p:nvSpPr>
        <p:spPr>
          <a:xfrm>
            <a:off x="6953250" y="3381375"/>
            <a:ext cx="2286000" cy="8953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1" name="46-text-21"/>
          <p:cNvSpPr>
            <a:spLocks noGrp="1"/>
          </p:cNvSpPr>
          <p:nvPr/>
        </p:nvSpPr>
        <p:spPr>
          <a:xfrm>
            <a:off x="7067550" y="351472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相对参考的偏好差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46-text-22"/>
          <p:cNvSpPr>
            <a:spLocks noGrp="1"/>
          </p:cNvSpPr>
          <p:nvPr/>
        </p:nvSpPr>
        <p:spPr>
          <a:xfrm>
            <a:off x="7048500" y="3810000"/>
            <a:ext cx="2095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Chosen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Rejected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46-process-22"/>
          <p:cNvSpPr>
            <a:spLocks noGrp="1"/>
          </p:cNvSpPr>
          <p:nvPr/>
        </p:nvSpPr>
        <p:spPr>
          <a:xfrm>
            <a:off x="9982200" y="3381375"/>
            <a:ext cx="1676400" cy="895350"/>
          </a:xfrm>
          <a:prstGeom prst="rect">
            <a:avLst/>
          </a:prstGeom>
          <a:solidFill>
            <a:srgbClr val="EAF3FC"/>
          </a:solidFill>
          <a:ln w="9525">
            <a:solidFill>
              <a:srgbClr val="CDDDEB"/>
            </a:solidFill>
          </a:ln>
        </p:spPr>
      </p:sp>
      <p:sp>
        <p:nvSpPr>
          <p:cNvPr id="24" name="46-text-24"/>
          <p:cNvSpPr>
            <a:spLocks noGrp="1"/>
          </p:cNvSpPr>
          <p:nvPr/>
        </p:nvSpPr>
        <p:spPr>
          <a:xfrm>
            <a:off x="10096500" y="3514725"/>
            <a:ext cx="14478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 Loss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46-text-25"/>
          <p:cNvSpPr>
            <a:spLocks noGrp="1"/>
          </p:cNvSpPr>
          <p:nvPr/>
        </p:nvSpPr>
        <p:spPr>
          <a:xfrm>
            <a:off x="10077450" y="3810000"/>
            <a:ext cx="14859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反向更新策略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46-text-31"/>
          <p:cNvSpPr>
            <a:spLocks noGrp="1"/>
          </p:cNvSpPr>
          <p:nvPr/>
        </p:nvSpPr>
        <p:spPr>
          <a:xfrm>
            <a:off x="533400" y="5505450"/>
            <a:ext cx="111252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标准离线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复用偏好对，不需要每一步在线生成候选回答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46-frame-31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33" name="46-text-33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46-text-34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偏向优选回答的策略模型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46-text-35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接下来：展开回答概率、参考比较和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 Loss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8" name="图片 37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47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7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7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7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7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7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7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7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7-title-9"/>
          <p:cNvSpPr>
            <a:spLocks noGrp="1"/>
          </p:cNvSpPr>
          <p:nvPr/>
        </p:nvSpPr>
        <p:spPr>
          <a:xfrm>
            <a:off x="533400" y="781050"/>
            <a:ext cx="7272655" cy="5721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5.5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更新：提高优选回答的相对倾向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7-text-10"/>
          <p:cNvSpPr>
            <a:spLocks noGrp="1"/>
          </p:cNvSpPr>
          <p:nvPr/>
        </p:nvSpPr>
        <p:spPr>
          <a:xfrm>
            <a:off x="533400" y="1419225"/>
            <a:ext cx="5530215" cy="320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比较的是相对参考模型的概率变化，而非只拟合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Chosen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47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7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选择路线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7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优化模型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47-text-14"/>
          <p:cNvSpPr>
            <a:spLocks noGrp="1"/>
          </p:cNvSpPr>
          <p:nvPr/>
        </p:nvSpPr>
        <p:spPr>
          <a:xfrm>
            <a:off x="402669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7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47-text-16"/>
          <p:cNvSpPr>
            <a:spLocks noGrp="1"/>
          </p:cNvSpPr>
          <p:nvPr/>
        </p:nvSpPr>
        <p:spPr>
          <a:xfrm>
            <a:off x="533400" y="432308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计算回答概率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47-text-18"/>
          <p:cNvSpPr>
            <a:spLocks noGrp="1"/>
          </p:cNvSpPr>
          <p:nvPr/>
        </p:nvSpPr>
        <p:spPr>
          <a:xfrm>
            <a:off x="2686050" y="4315778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形成偏好差值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7-text-20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反向更新策略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7-text-21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最小化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 Loss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，只更新策略的可训练参数；与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比较偏好收益和能力退化。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2631440"/>
            <a:ext cx="6834505" cy="1372235"/>
          </a:xfrm>
          <a:prstGeom prst="rect">
            <a:avLst/>
          </a:prstGeom>
        </p:spPr>
      </p:pic>
      <p:sp>
        <p:nvSpPr>
          <p:cNvPr id="25" name="47-frame-23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6" name="47-text-25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47-text-26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依据偏好对更新后的策略权重或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Adapter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47-text-27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接下来：简要定位基于组内相对奖励的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GRPO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1" name="图片 30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115" y="1753235"/>
            <a:ext cx="5217795" cy="441007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752080" y="11188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偏好数据从哪来？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48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8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8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8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8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8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8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8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8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5.6 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定位：一组回答形成相对奖励信号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8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用同一提示的多个候选回答比较表现，进行策略优化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8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偏好数据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8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选择路线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8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优化模型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48-text-14"/>
          <p:cNvSpPr>
            <a:spLocks noGrp="1"/>
          </p:cNvSpPr>
          <p:nvPr/>
        </p:nvSpPr>
        <p:spPr>
          <a:xfrm>
            <a:off x="4026694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48-frame-14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6" name="48-text-16"/>
          <p:cNvSpPr>
            <a:spLocks noGrp="1"/>
          </p:cNvSpPr>
          <p:nvPr/>
        </p:nvSpPr>
        <p:spPr>
          <a:xfrm>
            <a:off x="533400" y="2457450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生成一组回答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48-text-17"/>
          <p:cNvSpPr>
            <a:spLocks noGrp="1"/>
          </p:cNvSpPr>
          <p:nvPr/>
        </p:nvSpPr>
        <p:spPr>
          <a:xfrm>
            <a:off x="533400" y="2781300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对同一提示采样多个输出，使用奖励模型、规则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或可验证结果进行评分。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48-text-18"/>
          <p:cNvSpPr>
            <a:spLocks noGrp="1"/>
          </p:cNvSpPr>
          <p:nvPr/>
        </p:nvSpPr>
        <p:spPr>
          <a:xfrm>
            <a:off x="533400" y="3669983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形成组内相对信号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48-text-19"/>
          <p:cNvSpPr>
            <a:spLocks noGrp="1"/>
          </p:cNvSpPr>
          <p:nvPr/>
        </p:nvSpPr>
        <p:spPr>
          <a:xfrm>
            <a:off x="533400" y="3993833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以组内奖励统计形成优势，常见形式为奖励减去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均值并按标准差归一化。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48-text-20"/>
          <p:cNvSpPr>
            <a:spLocks noGrp="1"/>
          </p:cNvSpPr>
          <p:nvPr/>
        </p:nvSpPr>
        <p:spPr>
          <a:xfrm>
            <a:off x="533400" y="4882515"/>
            <a:ext cx="49149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放回方法关系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48-text-21"/>
          <p:cNvSpPr>
            <a:spLocks noGrp="1"/>
          </p:cNvSpPr>
          <p:nvPr/>
        </p:nvSpPr>
        <p:spPr>
          <a:xfrm>
            <a:off x="533400" y="5206365"/>
            <a:ext cx="4914900" cy="5848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GRPO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不需单独价值模型。它与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PPO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65" b="0">
                <a:solidFill>
                  <a:srgbClr val="213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样式策略优化，区别于标准离线</a:t>
            </a: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DPO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5168" y="2476500"/>
            <a:ext cx="5629014" cy="2971800"/>
          </a:xfrm>
          <a:prstGeom prst="rect">
            <a:avLst/>
          </a:prstGeom>
        </p:spPr>
      </p:pic>
      <p:sp>
        <p:nvSpPr>
          <p:cNvPr id="23" name="48-text-22"/>
          <p:cNvSpPr>
            <a:spLocks noGrp="1"/>
          </p:cNvSpPr>
          <p:nvPr/>
        </p:nvSpPr>
        <p:spPr>
          <a:xfrm>
            <a:off x="6000750" y="5514975"/>
            <a:ext cx="5657850" cy="2330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Hugging Face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官方图：同题多输出、评分与组内优势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48-frame-22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25" name="48-text-24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48-text-25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GRPO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训练位置和数据流的理解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48-text-26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接下来：统一进行最终模型评估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 descr="user-provided-logo-bann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49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49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9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49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49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49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49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49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49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最终评估：统一比较训练前后的模型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49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测试集独立保留，固定输入与评分条件后再比较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49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独立评估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49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问题归因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49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保存产物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49-frame-13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graphicFrame>
        <p:nvGraphicFramePr>
          <p:cNvPr id="15" name="表格 14"/>
          <p:cNvGraphicFramePr/>
          <p:nvPr/>
        </p:nvGraphicFramePr>
        <p:xfrm>
          <a:off x="533400" y="2505075"/>
          <a:ext cx="11125200" cy="3095625"/>
        </p:xfrm>
        <a:graphic>
          <a:graphicData uri="http://schemas.openxmlformats.org/drawingml/2006/table">
            <a:tbl>
              <a:tblPr/>
              <a:tblGrid>
                <a:gridCol w="2438400"/>
                <a:gridCol w="4857750"/>
                <a:gridCol w="3829050"/>
              </a:tblGrid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评估对象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示例指标或证据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语言与任务能力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Loss / PPL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EM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F1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pass@k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独立数据、统一计分协议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指令与结构输出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指令满足率、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JSON Schema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通过率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任务输入与格式标准一致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偏好与可靠性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盲测胜率、事实、安全、隐私与拒答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随机顺序，人工核查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效率与成本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token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延迟、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token/s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、显存与成本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固定硬件、精度和生成条件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6" name="49-frame-1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49-text-1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49-text-1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可复查的评估报告与通过</a:t>
            </a: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/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未通过结论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49-text-1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接下来：把失败表现映射回对应训练环节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50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50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50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50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50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50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50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50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50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问题归因：失败表现对应训练的哪一步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50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先定位数据、模板、数值或更新问题，再决定回到哪个阶段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50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独立评估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50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问题归因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50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保存产物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50-frame-13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graphicFrame>
        <p:nvGraphicFramePr>
          <p:cNvPr id="15" name="表格 14"/>
          <p:cNvGraphicFramePr/>
          <p:nvPr/>
        </p:nvGraphicFramePr>
        <p:xfrm>
          <a:off x="533400" y="2505075"/>
          <a:ext cx="11125200" cy="3095625"/>
        </p:xfrm>
        <a:graphic>
          <a:graphicData uri="http://schemas.openxmlformats.org/drawingml/2006/table">
            <a:tbl>
              <a:tblPr/>
              <a:tblGrid>
                <a:gridCol w="2724150"/>
                <a:gridCol w="4857750"/>
                <a:gridCol w="3543300"/>
              </a:tblGrid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表现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常见原因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回到哪一步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OOM / NaN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长度或批量过大，精度或梯度异常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显存、精度、裁剪与更新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Loss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不降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验证变差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标签、学习率、过拟合或分布差异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Batch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Loss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、数据与预算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复述问题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不停止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乱码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模板、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Loss Mask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EOS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或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Tokenizer 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错配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编码、监督区域与保存文件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遗忘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只背答案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语料过窄、重复过多或更新过强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配比、多样性与更新强度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6" name="50-frame-1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50-text-1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50-text-1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有依据的问题定位与后续调整方向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50-text-1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接下来：保存通过验收的版本及相关文件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51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51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51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51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51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51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51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51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51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保存产物：模型、编码规则与评估记录一起交付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51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最终模型文件与继续训练检查点有不同保存目的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51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独立评估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51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问题归因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51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保存产物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51-frame-13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graphicFrame>
        <p:nvGraphicFramePr>
          <p:cNvPr id="15" name="表格 14"/>
          <p:cNvGraphicFramePr/>
          <p:nvPr/>
        </p:nvGraphicFramePr>
        <p:xfrm>
          <a:off x="533400" y="2476500"/>
          <a:ext cx="11125200" cy="3238500"/>
        </p:xfrm>
        <a:graphic>
          <a:graphicData uri="http://schemas.openxmlformats.org/drawingml/2006/table">
            <a:tbl>
              <a:tblPr/>
              <a:tblGrid>
                <a:gridCol w="2762250"/>
                <a:gridCol w="8362950"/>
              </a:tblGrid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保存对象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必须关联的信息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完整模型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权重、结构配置、精确版本与使用约定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Tokenizer </a:t>
                      </a:r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与对话规则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词表、特殊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token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Chat Template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、长度配置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LoRA / QLoRA Adapter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适配器与配置、基座版本、目标层、量化与计算精度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继续训练检查点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优化器、调度器、随机状态、数据进度与更新边界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53975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数据与评估记录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来源与许可、清洗与划分、超参数、原始输出与失败案例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51-frame-1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51-text-1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51-text-1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可重新加载、可追踪来源且附有评估证据的模型版本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51-text-18"/>
          <p:cNvSpPr>
            <a:spLocks noGrp="1"/>
          </p:cNvSpPr>
          <p:nvPr/>
        </p:nvSpPr>
        <p:spPr>
          <a:xfrm>
            <a:off x="533400" y="64293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接下来：回到复盘全部训练流程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52-frame-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3765"/>
          </a:solidFill>
          <a:ln w="0">
            <a:noFill/>
          </a:ln>
        </p:spPr>
      </p:sp>
      <p:sp>
        <p:nvSpPr>
          <p:cNvPr id="2" name="52-text-2"/>
          <p:cNvSpPr>
            <a:spLocks noGrp="1"/>
          </p:cNvSpPr>
          <p:nvPr/>
        </p:nvSpPr>
        <p:spPr>
          <a:xfrm>
            <a:off x="533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52-text-3"/>
          <p:cNvSpPr>
            <a:spLocks noGrp="1"/>
          </p:cNvSpPr>
          <p:nvPr/>
        </p:nvSpPr>
        <p:spPr>
          <a:xfrm>
            <a:off x="14859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模型搭建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52-text-4"/>
          <p:cNvSpPr>
            <a:spLocks noGrp="1"/>
          </p:cNvSpPr>
          <p:nvPr/>
        </p:nvSpPr>
        <p:spPr>
          <a:xfrm>
            <a:off x="243840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52-text-5"/>
          <p:cNvSpPr>
            <a:spLocks noGrp="1"/>
          </p:cNvSpPr>
          <p:nvPr/>
        </p:nvSpPr>
        <p:spPr>
          <a:xfrm>
            <a:off x="3224213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CPT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52-text-6"/>
          <p:cNvSpPr>
            <a:spLocks noGrp="1"/>
          </p:cNvSpPr>
          <p:nvPr/>
        </p:nvSpPr>
        <p:spPr>
          <a:xfrm>
            <a:off x="4482370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SFT</a:t>
            </a:r>
            <a:endParaRPr b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52-text-7"/>
          <p:cNvSpPr>
            <a:spLocks noGrp="1"/>
          </p:cNvSpPr>
          <p:nvPr/>
        </p:nvSpPr>
        <p:spPr>
          <a:xfrm>
            <a:off x="505539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偏好对齐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52-text-8"/>
          <p:cNvSpPr>
            <a:spLocks noGrp="1"/>
          </p:cNvSpPr>
          <p:nvPr/>
        </p:nvSpPr>
        <p:spPr>
          <a:xfrm>
            <a:off x="6674644" y="28575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1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评估与保存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52-title-9"/>
          <p:cNvSpPr>
            <a:spLocks noGrp="1"/>
          </p:cNvSpPr>
          <p:nvPr/>
        </p:nvSpPr>
        <p:spPr>
          <a:xfrm>
            <a:off x="533400" y="7810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完整训练流程复盘：每一阶段交付什么</a:t>
            </a:r>
            <a:endParaRPr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52-text-10"/>
          <p:cNvSpPr>
            <a:spLocks noGrp="1"/>
          </p:cNvSpPr>
          <p:nvPr/>
        </p:nvSpPr>
        <p:spPr>
          <a:xfrm>
            <a:off x="533400" y="14192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从数据到权重变化，再到验收与保存，所有步骤回到同一条主线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52-text-11"/>
          <p:cNvSpPr>
            <a:spLocks noGrp="1"/>
          </p:cNvSpPr>
          <p:nvPr/>
        </p:nvSpPr>
        <p:spPr>
          <a:xfrm>
            <a:off x="533400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独立评估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52-text-12"/>
          <p:cNvSpPr>
            <a:spLocks noGrp="1"/>
          </p:cNvSpPr>
          <p:nvPr/>
        </p:nvSpPr>
        <p:spPr>
          <a:xfrm>
            <a:off x="1697831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问题归因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52-text-13"/>
          <p:cNvSpPr>
            <a:spLocks noGrp="1"/>
          </p:cNvSpPr>
          <p:nvPr/>
        </p:nvSpPr>
        <p:spPr>
          <a:xfrm>
            <a:off x="2862263" y="1914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7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 </a:t>
            </a:r>
            <a:r>
              <a:rPr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保存产物</a:t>
            </a:r>
            <a:endParaRPr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52-frame-13"/>
          <p:cNvSpPr>
            <a:spLocks noGrp="1"/>
          </p:cNvSpPr>
          <p:nvPr/>
        </p:nvSpPr>
        <p:spPr>
          <a:xfrm>
            <a:off x="533400" y="2238375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graphicFrame>
        <p:nvGraphicFramePr>
          <p:cNvPr id="15" name="表格 14"/>
          <p:cNvGraphicFramePr/>
          <p:nvPr/>
        </p:nvGraphicFramePr>
        <p:xfrm>
          <a:off x="533400" y="2419350"/>
          <a:ext cx="11125200" cy="3409952"/>
        </p:xfrm>
        <a:graphic>
          <a:graphicData uri="http://schemas.openxmlformats.org/drawingml/2006/table">
            <a:tbl>
              <a:tblPr/>
              <a:tblGrid>
                <a:gridCol w="2381250"/>
                <a:gridCol w="5238750"/>
                <a:gridCol w="3505200"/>
              </a:tblGrid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输入与学习目标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阶段产物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T w="5715">
                      <a:solidFill>
                        <a:srgbClr val="CDDDEB"/>
                      </a:solidFill>
                      <a:prstDash val="solid"/>
                    </a:lnT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123765"/>
                    </a:solidFill>
                  </a:tcPr>
                </a:tc>
              </a:tr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数据与模型准备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语料编码，确定结构并初始化参数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数据、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Tokenizer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、初始模型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预训练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随机权重，预测下一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token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CPT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已有权重，适应新的文本分布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继续训练模型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SFT</a:t>
                      </a:r>
                      <a:endParaRPr sz="1725" b="1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示范回答，学习指令条件生成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指令模型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Adapter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偏好对齐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偏好或奖励，优化回答倾向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对齐模型</a:t>
                      </a:r>
                      <a:r>
                        <a:rPr sz="1725" b="0">
                          <a:solidFill>
                            <a:srgbClr val="213B57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/ Adapter</a:t>
                      </a:r>
                      <a:endParaRPr sz="1725" b="0">
                        <a:solidFill>
                          <a:srgbClr val="213B57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136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1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最终评估与保存</a:t>
                      </a:r>
                      <a:endParaRPr sz="1725" b="1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L w="5715">
                      <a:solidFill>
                        <a:srgbClr val="CDDDEB"/>
                      </a:solidFill>
                      <a:prstDash val="solid"/>
                    </a:lnL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独立验收，关联全部匹配文件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模型版本与评估记录</a:t>
                      </a:r>
                      <a:endParaRPr sz="1725" b="0">
                        <a:solidFill>
                          <a:srgbClr val="213B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lnR w="5715">
                      <a:solidFill>
                        <a:srgbClr val="CDDDEB"/>
                      </a:solidFill>
                      <a:prstDash val="solid"/>
                    </a:lnR>
                    <a:lnB w="5715">
                      <a:solidFill>
                        <a:srgbClr val="CDDDEB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6" name="52-frame-14"/>
          <p:cNvSpPr>
            <a:spLocks noGrp="1"/>
          </p:cNvSpPr>
          <p:nvPr/>
        </p:nvSpPr>
        <p:spPr>
          <a:xfrm>
            <a:off x="533400" y="5981700"/>
            <a:ext cx="11125200" cy="9525"/>
          </a:xfrm>
          <a:prstGeom prst="rect">
            <a:avLst/>
          </a:prstGeom>
          <a:solidFill>
            <a:srgbClr val="CDDDEB"/>
          </a:solidFill>
          <a:ln w="0">
            <a:noFill/>
          </a:ln>
        </p:spPr>
      </p:sp>
      <p:sp>
        <p:nvSpPr>
          <p:cNvPr id="17" name="52-text-16"/>
          <p:cNvSpPr>
            <a:spLocks noGrp="1"/>
          </p:cNvSpPr>
          <p:nvPr/>
        </p:nvSpPr>
        <p:spPr>
          <a:xfrm>
            <a:off x="533400" y="6105525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66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本步产出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52-text-17"/>
          <p:cNvSpPr>
            <a:spLocks noGrp="1"/>
          </p:cNvSpPr>
          <p:nvPr/>
        </p:nvSpPr>
        <p:spPr>
          <a:xfrm>
            <a:off x="1514475" y="6076950"/>
            <a:ext cx="9972675" cy="306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237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最终模型、配套编码规则和可追踪评估记录</a:t>
            </a: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260350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text"/>
          <p:cNvSpPr>
            <a:spLocks noGrp="1"/>
          </p:cNvSpPr>
          <p:nvPr/>
        </p:nvSpPr>
        <p:spPr>
          <a:xfrm>
            <a:off x="609600" y="2857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2166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 b="1">
                <a:solidFill>
                  <a:srgbClr val="2166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166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实战流程</a:t>
            </a:r>
            <a:endParaRPr sz="1275" b="1">
              <a:solidFill>
                <a:srgbClr val="2166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7048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150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MiniMind 实战：项目结构与学习路线</a:t>
            </a:r>
            <a:endParaRPr sz="315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rface"/>
          <p:cNvSpPr>
            <a:spLocks noGrp="1"/>
          </p:cNvSpPr>
          <p:nvPr/>
        </p:nvSpPr>
        <p:spPr>
          <a:xfrm>
            <a:off x="609600" y="1457325"/>
            <a:ext cx="10972800" cy="14288"/>
          </a:xfrm>
          <a:prstGeom prst="rect">
            <a:avLst/>
          </a:prstGeom>
          <a:solidFill>
            <a:srgbClr val="D9E5F1"/>
          </a:solidFill>
          <a:ln w="0">
            <a:noFill/>
          </a:ln>
        </p:spPr>
      </p:sp>
      <p:sp>
        <p:nvSpPr>
          <p:cNvPr id="4" name="text"/>
          <p:cNvSpPr>
            <a:spLocks noGrp="1"/>
          </p:cNvSpPr>
          <p:nvPr/>
        </p:nvSpPr>
        <p:spPr>
          <a:xfrm>
            <a:off x="609600" y="6477000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0">
                <a:solidFill>
                  <a:srgbClr val="6477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6477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7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中国科学院大学</a:t>
            </a:r>
            <a:endParaRPr sz="975" b="0">
              <a:solidFill>
                <a:srgbClr val="6477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urface"/>
          <p:cNvSpPr>
            <a:spLocks noGrp="1"/>
          </p:cNvSpPr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solidFill>
            <a:srgbClr val="ECF4FC"/>
          </a:solidFill>
          <a:ln w="0">
            <a:noFill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781050" y="59055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MiniMind-3 Dense 约 64M 参数；教学目标是理解和复现完整训练系统</a:t>
            </a:r>
            <a:endParaRPr sz="1575" b="1">
              <a:solidFill>
                <a:srgbClr val="123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720" y="1389380"/>
            <a:ext cx="6888480" cy="437388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07035" y="1917065"/>
            <a:ext cx="4634230" cy="767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https://github.com/jingyaogong/minimind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336550" y="3213100"/>
            <a:ext cx="4394200" cy="1497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/>
              <a:t>使用个人电脑，从零开始，手搓大语言模型</a:t>
            </a:r>
            <a:endParaRPr lang="zh-CN" altLang="en-US" sz="2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/>
              <a:t>实践模型训练与微调全流程</a:t>
            </a:r>
            <a:endParaRPr lang="zh-CN" altLang="en-US"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2679700"/>
            <a:ext cx="6776085" cy="3594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35" y="2637155"/>
            <a:ext cx="3863340" cy="3657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95" y="332740"/>
            <a:ext cx="687832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666750" y="2209800"/>
            <a:ext cx="10858500" cy="220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622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622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22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6225" b="1">
              <a:solidFill>
                <a:srgbClr val="123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622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225" b="1">
                <a:solidFill>
                  <a:srgbClr val="123D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欢迎讨论</a:t>
            </a:r>
            <a:endParaRPr sz="6225" b="1">
              <a:solidFill>
                <a:srgbClr val="123D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609600" y="6477000"/>
            <a:ext cx="9525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75" b="0">
                <a:solidFill>
                  <a:srgbClr val="6477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6477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7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中国科学院大学</a:t>
            </a:r>
            <a:endParaRPr sz="975" b="0">
              <a:solidFill>
                <a:srgbClr val="6477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user-provided-logo-bann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405" y="188595"/>
            <a:ext cx="2624455" cy="5486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1.25,&quot;left&quot;:201,&quot;top&quot;:140.25,&quot;width&quot;:375}"/>
</p:tagLst>
</file>

<file path=ppt/tags/tag2.xml><?xml version="1.0" encoding="utf-8"?>
<p:tagLst xmlns:p="http://schemas.openxmlformats.org/presentationml/2006/main">
  <p:tag name="KSO_WM_DIAGRAM_VIRTUALLY_FRAME" val="{&quot;height&quot;:281.25,&quot;left&quot;:201,&quot;top&quot;:140.25,&quot;width&quot;:375}"/>
</p:tagLst>
</file>

<file path=ppt/tags/tag3.xml><?xml version="1.0" encoding="utf-8"?>
<p:tagLst xmlns:p="http://schemas.openxmlformats.org/presentationml/2006/main">
  <p:tag name="KSO_WM_DIAGRAM_VIRTUALLY_FRAME" val="{&quot;height&quot;:301.2,&quot;left&quot;:48,&quot;top&quot;:155.25,&quot;width&quot;:412.5}"/>
</p:tagLst>
</file>

<file path=ppt/tags/tag4.xml><?xml version="1.0" encoding="utf-8"?>
<p:tagLst xmlns:p="http://schemas.openxmlformats.org/presentationml/2006/main">
  <p:tag name="KSO_WM_DIAGRAM_VIRTUALLY_FRAME" val="{&quot;height&quot;:301.2,&quot;left&quot;:48,&quot;top&quot;:155.25,&quot;width&quot;:412.5}"/>
</p:tagLst>
</file>

<file path=ppt/tags/tag5.xml><?xml version="1.0" encoding="utf-8"?>
<p:tagLst xmlns:p="http://schemas.openxmlformats.org/presentationml/2006/main">
  <p:tag name="TABLE_ENDDRAG_ORIGIN_RECT" val="417*180"/>
  <p:tag name="TABLE_ENDDRAG_RECT" val="42*236*417*180"/>
</p:tagLst>
</file>

<file path=ppt/theme/theme1.xml><?xml version="1.0" encoding="utf-8"?>
<a:theme xmlns:a="http://schemas.openxmlformats.org/drawingml/2006/main" name="王晓雨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15471</Words>
  <Application>WPS 演示</Application>
  <PresentationFormat>Converted Presentation</PresentationFormat>
  <Paragraphs>2757</Paragraphs>
  <Slides>56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Times New Roman</vt:lpstr>
      <vt:lpstr>Times New Roman</vt:lpstr>
      <vt:lpstr>Arial Unicode MS</vt:lpstr>
      <vt:lpstr>Wingdings</vt:lpstr>
      <vt:lpstr>Calibri</vt:lpstr>
      <vt:lpstr>MS PGothic</vt:lpstr>
      <vt:lpstr>王晓雨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王晓雨</cp:lastModifiedBy>
  <cp:revision>48</cp:revision>
  <dcterms:created xsi:type="dcterms:W3CDTF">2026-10-27T07:00:00Z</dcterms:created>
  <dcterms:modified xsi:type="dcterms:W3CDTF">2026-10-27T11:57:59Z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FE0C9D8C2986457293D710FE9387A7D9_12</vt:lpwstr>
  </property>
</Properties>
</file>